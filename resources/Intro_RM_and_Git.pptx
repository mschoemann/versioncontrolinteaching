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1" r:id="rId1"/>
  </p:sldMasterIdLst>
  <p:notesMasterIdLst>
    <p:notesMasterId r:id="rId17"/>
  </p:notesMasterIdLst>
  <p:handoutMasterIdLst>
    <p:handoutMasterId r:id="rId18"/>
  </p:handoutMasterIdLst>
  <p:sldIdLst>
    <p:sldId id="645" r:id="rId2"/>
    <p:sldId id="621" r:id="rId3"/>
    <p:sldId id="622" r:id="rId4"/>
    <p:sldId id="623" r:id="rId5"/>
    <p:sldId id="624" r:id="rId6"/>
    <p:sldId id="625" r:id="rId7"/>
    <p:sldId id="626" r:id="rId8"/>
    <p:sldId id="632" r:id="rId9"/>
    <p:sldId id="629" r:id="rId10"/>
    <p:sldId id="627" r:id="rId11"/>
    <p:sldId id="628" r:id="rId12"/>
    <p:sldId id="631" r:id="rId13"/>
    <p:sldId id="633" r:id="rId14"/>
    <p:sldId id="269" r:id="rId15"/>
    <p:sldId id="383" r:id="rId16"/>
  </p:sldIdLst>
  <p:sldSz cx="12192000" cy="6858000"/>
  <p:notesSz cx="6858000" cy="9144000"/>
  <p:defaultTextStyle>
    <a:defPPr>
      <a:defRPr lang="de-DE"/>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nöfel,Anja" initials="K"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ACA8"/>
    <a:srgbClr val="F07D00"/>
    <a:srgbClr val="000000"/>
    <a:srgbClr val="13A983"/>
    <a:srgbClr val="009BA4"/>
    <a:srgbClr val="93C356"/>
    <a:srgbClr val="BCCF02"/>
    <a:srgbClr val="28618C"/>
    <a:srgbClr val="539DC5"/>
    <a:srgbClr val="E02D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113A9D2-9D6B-4929-AA2D-F23B5EE8CBE7}" styleName="Designformatvorlage 2 - Akz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autoAdjust="0"/>
    <p:restoredTop sz="97833"/>
  </p:normalViewPr>
  <p:slideViewPr>
    <p:cSldViewPr snapToGrid="0" snapToObjects="1">
      <p:cViewPr varScale="1">
        <p:scale>
          <a:sx n="151" d="100"/>
          <a:sy n="151" d="100"/>
        </p:scale>
        <p:origin x="100" y="292"/>
      </p:cViewPr>
      <p:guideLst/>
    </p:cSldViewPr>
  </p:slideViewPr>
  <p:outlineViewPr>
    <p:cViewPr>
      <p:scale>
        <a:sx n="33" d="100"/>
        <a:sy n="33" d="100"/>
      </p:scale>
      <p:origin x="0" y="-536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AC6211-610F-44E5-BF19-D3CDF6EDD281}" type="datetimeFigureOut">
              <a:rPr lang="de-DE" smtClean="0"/>
              <a:t>14.11.2025</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D61AA8-FB04-42D1-9939-D1A1356F8086}" type="slidenum">
              <a:rPr lang="de-DE" smtClean="0"/>
              <a:t>‹Nr.›</a:t>
            </a:fld>
            <a:endParaRPr lang="de-DE"/>
          </a:p>
        </p:txBody>
      </p:sp>
    </p:spTree>
    <p:extLst>
      <p:ext uri="{BB962C8B-B14F-4D97-AF65-F5344CB8AC3E}">
        <p14:creationId xmlns:p14="http://schemas.microsoft.com/office/powerpoint/2010/main" val="11431560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7435D3-23A6-45D3-8DFA-7317DC1E7A64}" type="datetimeFigureOut">
              <a:rPr lang="de-DE" smtClean="0"/>
              <a:t>14.11.2025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69AC09-DF60-43F4-96BF-67D4D9A74094}" type="slidenum">
              <a:rPr lang="de-DE" smtClean="0"/>
              <a:t>‹Nr.›</a:t>
            </a:fld>
            <a:endParaRPr lang="de-DE"/>
          </a:p>
        </p:txBody>
      </p:sp>
    </p:spTree>
    <p:extLst>
      <p:ext uri="{BB962C8B-B14F-4D97-AF65-F5344CB8AC3E}">
        <p14:creationId xmlns:p14="http://schemas.microsoft.com/office/powerpoint/2010/main" val="383318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elfolie_TUD">
    <p:spTree>
      <p:nvGrpSpPr>
        <p:cNvPr id="1" name=""/>
        <p:cNvGrpSpPr/>
        <p:nvPr/>
      </p:nvGrpSpPr>
      <p:grpSpPr>
        <a:xfrm>
          <a:off x="0" y="0"/>
          <a:ext cx="0" cy="0"/>
          <a:chOff x="0" y="0"/>
          <a:chExt cx="0" cy="0"/>
        </a:xfrm>
      </p:grpSpPr>
      <p:sp>
        <p:nvSpPr>
          <p:cNvPr id="13" name="Rechteck 12"/>
          <p:cNvSpPr/>
          <p:nvPr/>
        </p:nvSpPr>
        <p:spPr>
          <a:xfrm>
            <a:off x="0" y="1025526"/>
            <a:ext cx="12192000" cy="5832476"/>
          </a:xfrm>
          <a:prstGeom prst="rect">
            <a:avLst/>
          </a:prstGeom>
          <a:gradFill>
            <a:gsLst>
              <a:gs pos="14000">
                <a:schemeClr val="tx2"/>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3" name="Untertitel 2"/>
          <p:cNvSpPr>
            <a:spLocks noGrp="1"/>
          </p:cNvSpPr>
          <p:nvPr>
            <p:ph type="subTitle" idx="1" hasCustomPrompt="1"/>
          </p:nvPr>
        </p:nvSpPr>
        <p:spPr>
          <a:xfrm>
            <a:off x="874714" y="4494775"/>
            <a:ext cx="10438871" cy="1334525"/>
          </a:xfrm>
        </p:spPr>
        <p:txBody>
          <a:bodyPr/>
          <a:lstStyle>
            <a:lvl1pPr marL="0" indent="0" algn="l">
              <a:buNone/>
              <a:defRPr>
                <a:solidFill>
                  <a:schemeClr val="bg1">
                    <a:alpha val="80000"/>
                  </a:schemeClr>
                </a:solidFill>
              </a:defRPr>
            </a:lvl1pPr>
            <a:lvl2pPr marL="457135" indent="0" algn="ctr">
              <a:buNone/>
              <a:defRPr>
                <a:solidFill>
                  <a:schemeClr val="tx1">
                    <a:tint val="75000"/>
                  </a:schemeClr>
                </a:solidFill>
              </a:defRPr>
            </a:lvl2pPr>
            <a:lvl3pPr marL="914269" indent="0" algn="ctr">
              <a:buNone/>
              <a:defRPr>
                <a:solidFill>
                  <a:schemeClr val="tx1">
                    <a:tint val="75000"/>
                  </a:schemeClr>
                </a:solidFill>
              </a:defRPr>
            </a:lvl3pPr>
            <a:lvl4pPr marL="1371402" indent="0" algn="ctr">
              <a:buNone/>
              <a:defRPr>
                <a:solidFill>
                  <a:schemeClr val="tx1">
                    <a:tint val="75000"/>
                  </a:schemeClr>
                </a:solidFill>
              </a:defRPr>
            </a:lvl4pPr>
            <a:lvl5pPr marL="1828534" indent="0" algn="ctr">
              <a:buNone/>
              <a:defRPr>
                <a:solidFill>
                  <a:schemeClr val="tx1">
                    <a:tint val="75000"/>
                  </a:schemeClr>
                </a:solidFill>
              </a:defRPr>
            </a:lvl5pPr>
            <a:lvl6pPr marL="2285670" indent="0" algn="ctr">
              <a:buNone/>
              <a:defRPr>
                <a:solidFill>
                  <a:schemeClr val="tx1">
                    <a:tint val="75000"/>
                  </a:schemeClr>
                </a:solidFill>
              </a:defRPr>
            </a:lvl6pPr>
            <a:lvl7pPr marL="2742803" indent="0" algn="ctr">
              <a:buNone/>
              <a:defRPr>
                <a:solidFill>
                  <a:schemeClr val="tx1">
                    <a:tint val="75000"/>
                  </a:schemeClr>
                </a:solidFill>
              </a:defRPr>
            </a:lvl7pPr>
            <a:lvl8pPr marL="3199936" indent="0" algn="ctr">
              <a:buNone/>
              <a:defRPr>
                <a:solidFill>
                  <a:schemeClr val="tx1">
                    <a:tint val="75000"/>
                  </a:schemeClr>
                </a:solidFill>
              </a:defRPr>
            </a:lvl8pPr>
            <a:lvl9pPr marL="3657070" indent="0" algn="ctr">
              <a:buNone/>
              <a:defRPr>
                <a:solidFill>
                  <a:schemeClr val="tx1">
                    <a:tint val="75000"/>
                  </a:schemeClr>
                </a:solidFill>
              </a:defRPr>
            </a:lvl9pPr>
          </a:lstStyle>
          <a:p>
            <a:r>
              <a:rPr lang="de-DE" dirty="0"/>
              <a:t>Formatvorlage des Untertitelmasters durch Klicken bearbeiten</a:t>
            </a:r>
            <a:br>
              <a:rPr lang="de-DE" dirty="0"/>
            </a:br>
            <a:r>
              <a:rPr lang="de-DE" dirty="0"/>
              <a:t>Ort oder Anlass des Vortrags // Samstag, 13. Januar 2018</a:t>
            </a:r>
          </a:p>
        </p:txBody>
      </p:sp>
      <p:sp>
        <p:nvSpPr>
          <p:cNvPr id="26" name="Textplatzhalter 25"/>
          <p:cNvSpPr>
            <a:spLocks noGrp="1"/>
          </p:cNvSpPr>
          <p:nvPr>
            <p:ph type="body" sz="quarter" idx="10" hasCustomPrompt="1"/>
          </p:nvPr>
        </p:nvSpPr>
        <p:spPr>
          <a:xfrm>
            <a:off x="874713" y="2420841"/>
            <a:ext cx="10438873" cy="828676"/>
          </a:xfrm>
          <a:ln>
            <a:noFill/>
          </a:ln>
        </p:spPr>
        <p:txBody>
          <a:bodyPr/>
          <a:lstStyle>
            <a:lvl1pPr>
              <a:spcBef>
                <a:spcPts val="0"/>
              </a:spcBef>
              <a:defRPr sz="1600">
                <a:solidFill>
                  <a:schemeClr val="bg1">
                    <a:alpha val="80000"/>
                  </a:schemeClr>
                </a:solidFill>
              </a:defRPr>
            </a:lvl1pPr>
          </a:lstStyle>
          <a:p>
            <a:pPr lvl="0"/>
            <a:r>
              <a:rPr lang="de-DE" dirty="0"/>
              <a:t>Vorname Name</a:t>
            </a:r>
            <a:br>
              <a:rPr lang="de-DE" dirty="0"/>
            </a:br>
            <a:r>
              <a:rPr lang="de-DE" dirty="0"/>
              <a:t>Struktureinheit  der TU Dresden</a:t>
            </a:r>
          </a:p>
        </p:txBody>
      </p:sp>
      <p:sp>
        <p:nvSpPr>
          <p:cNvPr id="4" name="Rechteck 3"/>
          <p:cNvSpPr/>
          <p:nvPr/>
        </p:nvSpPr>
        <p:spPr>
          <a:xfrm>
            <a:off x="0" y="1025525"/>
            <a:ext cx="12192000" cy="171451"/>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0" name="Titel 1"/>
          <p:cNvSpPr>
            <a:spLocks noGrp="1"/>
          </p:cNvSpPr>
          <p:nvPr>
            <p:ph type="title" hasCustomPrompt="1"/>
          </p:nvPr>
        </p:nvSpPr>
        <p:spPr>
          <a:xfrm>
            <a:off x="874713" y="3392203"/>
            <a:ext cx="10438873" cy="972108"/>
          </a:xfrm>
          <a:ln>
            <a:noFill/>
          </a:ln>
        </p:spPr>
        <p:txBody>
          <a:bodyPr/>
          <a:lstStyle>
            <a:lvl1pPr>
              <a:defRPr sz="3200" b="1">
                <a:solidFill>
                  <a:schemeClr val="bg1"/>
                </a:solidFill>
              </a:defRPr>
            </a:lvl1pPr>
          </a:lstStyle>
          <a:p>
            <a:r>
              <a:rPr lang="de-DE" dirty="0"/>
              <a:t>Titelmasterformat</a:t>
            </a:r>
            <a:br>
              <a:rPr lang="de-DE" dirty="0"/>
            </a:br>
            <a:r>
              <a:rPr lang="de-DE" dirty="0"/>
              <a:t>durch Klicken bearbeiten</a:t>
            </a:r>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2731" y="328249"/>
            <a:ext cx="1218534" cy="55458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304" y="349731"/>
            <a:ext cx="1764738" cy="513188"/>
          </a:xfrm>
          <a:prstGeom prst="rect">
            <a:avLst/>
          </a:prstGeom>
        </p:spPr>
      </p:pic>
    </p:spTree>
    <p:extLst>
      <p:ext uri="{BB962C8B-B14F-4D97-AF65-F5344CB8AC3E}">
        <p14:creationId xmlns:p14="http://schemas.microsoft.com/office/powerpoint/2010/main" val="1330912023"/>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elfolie_TUD">
    <p:spTree>
      <p:nvGrpSpPr>
        <p:cNvPr id="1" name=""/>
        <p:cNvGrpSpPr/>
        <p:nvPr/>
      </p:nvGrpSpPr>
      <p:grpSpPr>
        <a:xfrm>
          <a:off x="0" y="0"/>
          <a:ext cx="0" cy="0"/>
          <a:chOff x="0" y="0"/>
          <a:chExt cx="0" cy="0"/>
        </a:xfrm>
      </p:grpSpPr>
      <p:sp>
        <p:nvSpPr>
          <p:cNvPr id="3" name="Untertitel 2"/>
          <p:cNvSpPr>
            <a:spLocks noGrp="1"/>
          </p:cNvSpPr>
          <p:nvPr>
            <p:ph type="subTitle" idx="1" hasCustomPrompt="1"/>
          </p:nvPr>
        </p:nvSpPr>
        <p:spPr>
          <a:xfrm>
            <a:off x="874712" y="4494775"/>
            <a:ext cx="10438873" cy="1334525"/>
          </a:xfrm>
        </p:spPr>
        <p:txBody>
          <a:bodyPr/>
          <a:lstStyle>
            <a:lvl1pPr marL="0" indent="0" algn="l">
              <a:buNone/>
              <a:defRPr>
                <a:solidFill>
                  <a:schemeClr val="bg2"/>
                </a:solidFill>
              </a:defRPr>
            </a:lvl1pPr>
            <a:lvl2pPr marL="457135" indent="0" algn="ctr">
              <a:buNone/>
              <a:defRPr>
                <a:solidFill>
                  <a:schemeClr val="tx1">
                    <a:tint val="75000"/>
                  </a:schemeClr>
                </a:solidFill>
              </a:defRPr>
            </a:lvl2pPr>
            <a:lvl3pPr marL="914269" indent="0" algn="ctr">
              <a:buNone/>
              <a:defRPr>
                <a:solidFill>
                  <a:schemeClr val="tx1">
                    <a:tint val="75000"/>
                  </a:schemeClr>
                </a:solidFill>
              </a:defRPr>
            </a:lvl3pPr>
            <a:lvl4pPr marL="1371402" indent="0" algn="ctr">
              <a:buNone/>
              <a:defRPr>
                <a:solidFill>
                  <a:schemeClr val="tx1">
                    <a:tint val="75000"/>
                  </a:schemeClr>
                </a:solidFill>
              </a:defRPr>
            </a:lvl4pPr>
            <a:lvl5pPr marL="1828534" indent="0" algn="ctr">
              <a:buNone/>
              <a:defRPr>
                <a:solidFill>
                  <a:schemeClr val="tx1">
                    <a:tint val="75000"/>
                  </a:schemeClr>
                </a:solidFill>
              </a:defRPr>
            </a:lvl5pPr>
            <a:lvl6pPr marL="2285670" indent="0" algn="ctr">
              <a:buNone/>
              <a:defRPr>
                <a:solidFill>
                  <a:schemeClr val="tx1">
                    <a:tint val="75000"/>
                  </a:schemeClr>
                </a:solidFill>
              </a:defRPr>
            </a:lvl6pPr>
            <a:lvl7pPr marL="2742803" indent="0" algn="ctr">
              <a:buNone/>
              <a:defRPr>
                <a:solidFill>
                  <a:schemeClr val="tx1">
                    <a:tint val="75000"/>
                  </a:schemeClr>
                </a:solidFill>
              </a:defRPr>
            </a:lvl7pPr>
            <a:lvl8pPr marL="3199936" indent="0" algn="ctr">
              <a:buNone/>
              <a:defRPr>
                <a:solidFill>
                  <a:schemeClr val="tx1">
                    <a:tint val="75000"/>
                  </a:schemeClr>
                </a:solidFill>
              </a:defRPr>
            </a:lvl8pPr>
            <a:lvl9pPr marL="3657070" indent="0" algn="ctr">
              <a:buNone/>
              <a:defRPr>
                <a:solidFill>
                  <a:schemeClr val="tx1">
                    <a:tint val="75000"/>
                  </a:schemeClr>
                </a:solidFill>
              </a:defRPr>
            </a:lvl9pPr>
          </a:lstStyle>
          <a:p>
            <a:r>
              <a:rPr lang="de-DE" dirty="0"/>
              <a:t>Formatvorlage des Untertitelmasters durch Klicken bearbeiten</a:t>
            </a:r>
            <a:br>
              <a:rPr lang="de-DE" dirty="0"/>
            </a:br>
            <a:r>
              <a:rPr lang="de-DE" dirty="0"/>
              <a:t>Ort oder Anlass des Vortrags // Samstag, 13. Januar 2018</a:t>
            </a:r>
          </a:p>
        </p:txBody>
      </p:sp>
      <p:sp>
        <p:nvSpPr>
          <p:cNvPr id="26" name="Textplatzhalter 25"/>
          <p:cNvSpPr>
            <a:spLocks noGrp="1"/>
          </p:cNvSpPr>
          <p:nvPr>
            <p:ph type="body" sz="quarter" idx="10" hasCustomPrompt="1"/>
          </p:nvPr>
        </p:nvSpPr>
        <p:spPr>
          <a:xfrm>
            <a:off x="874713" y="2420841"/>
            <a:ext cx="10438873" cy="828676"/>
          </a:xfrm>
          <a:ln>
            <a:noFill/>
          </a:ln>
        </p:spPr>
        <p:txBody>
          <a:bodyPr/>
          <a:lstStyle>
            <a:lvl1pPr>
              <a:spcBef>
                <a:spcPts val="0"/>
              </a:spcBef>
              <a:defRPr sz="1600">
                <a:solidFill>
                  <a:schemeClr val="bg2"/>
                </a:solidFill>
              </a:defRPr>
            </a:lvl1pPr>
          </a:lstStyle>
          <a:p>
            <a:pPr lvl="0"/>
            <a:r>
              <a:rPr lang="de-DE" dirty="0"/>
              <a:t>Vorname Name</a:t>
            </a:r>
            <a:br>
              <a:rPr lang="de-DE" dirty="0"/>
            </a:br>
            <a:r>
              <a:rPr lang="de-DE" dirty="0"/>
              <a:t>Struktureinheit  der TU Dresden</a:t>
            </a:r>
          </a:p>
        </p:txBody>
      </p:sp>
      <p:sp>
        <p:nvSpPr>
          <p:cNvPr id="2" name="Titel 1"/>
          <p:cNvSpPr>
            <a:spLocks noGrp="1"/>
          </p:cNvSpPr>
          <p:nvPr>
            <p:ph type="title" hasCustomPrompt="1"/>
          </p:nvPr>
        </p:nvSpPr>
        <p:spPr>
          <a:xfrm>
            <a:off x="874713" y="3392203"/>
            <a:ext cx="10438873" cy="972108"/>
          </a:xfrm>
          <a:ln>
            <a:noFill/>
          </a:ln>
        </p:spPr>
        <p:txBody>
          <a:bodyPr/>
          <a:lstStyle>
            <a:lvl1pPr>
              <a:defRPr sz="3200" b="1">
                <a:solidFill>
                  <a:schemeClr val="tx2"/>
                </a:solidFill>
              </a:defRPr>
            </a:lvl1pPr>
          </a:lstStyle>
          <a:p>
            <a:r>
              <a:rPr lang="de-DE" dirty="0"/>
              <a:t>Titelmasterformat</a:t>
            </a:r>
            <a:br>
              <a:rPr lang="de-DE" dirty="0"/>
            </a:br>
            <a:r>
              <a:rPr lang="de-DE" dirty="0"/>
              <a:t>durch Klicken bearbeiten</a:t>
            </a:r>
          </a:p>
        </p:txBody>
      </p:sp>
      <p:cxnSp>
        <p:nvCxnSpPr>
          <p:cNvPr id="8" name="Gerade Verbindung 14"/>
          <p:cNvCxnSpPr/>
          <p:nvPr/>
        </p:nvCxnSpPr>
        <p:spPr>
          <a:xfrm>
            <a:off x="0" y="1026000"/>
            <a:ext cx="12192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Gerade Verbindung 14"/>
          <p:cNvCxnSpPr/>
          <p:nvPr/>
        </p:nvCxnSpPr>
        <p:spPr>
          <a:xfrm>
            <a:off x="0" y="1206000"/>
            <a:ext cx="12192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2731" y="328249"/>
            <a:ext cx="1218534" cy="554589"/>
          </a:xfrm>
          <a:prstGeom prst="rect">
            <a:avLst/>
          </a:prstGeom>
        </p:spPr>
      </p:pic>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304" y="349731"/>
            <a:ext cx="1764738" cy="513188"/>
          </a:xfrm>
          <a:prstGeom prst="rect">
            <a:avLst/>
          </a:prstGeom>
        </p:spPr>
      </p:pic>
    </p:spTree>
    <p:extLst>
      <p:ext uri="{BB962C8B-B14F-4D97-AF65-F5344CB8AC3E}">
        <p14:creationId xmlns:p14="http://schemas.microsoft.com/office/powerpoint/2010/main" val="172519847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lvl1pPr>
              <a:defRPr/>
            </a:lvl1pPr>
          </a:lstStyle>
          <a:p>
            <a:r>
              <a:rPr lang="de-DE"/>
              <a:t>Mastertitelformat bearbeiten</a:t>
            </a:r>
            <a:endParaRPr lang="de-DE" dirty="0"/>
          </a:p>
        </p:txBody>
      </p:sp>
      <p:sp>
        <p:nvSpPr>
          <p:cNvPr id="6" name="Inhaltsplatzhalter 5"/>
          <p:cNvSpPr>
            <a:spLocks noGrp="1"/>
          </p:cNvSpPr>
          <p:nvPr>
            <p:ph sz="quarter" idx="10"/>
          </p:nvPr>
        </p:nvSpPr>
        <p:spPr>
          <a:xfrm>
            <a:off x="874711" y="1484313"/>
            <a:ext cx="10580688" cy="4344987"/>
          </a:xfrm>
        </p:spPr>
        <p:txBody>
          <a:bodyPr/>
          <a:lstStyle>
            <a:lvl1pPr>
              <a:spcBef>
                <a:spcPts val="1200"/>
              </a:spcBef>
              <a:defRPr/>
            </a:lvl1pPr>
            <a:lvl3pPr>
              <a:spcBef>
                <a:spcPts val="1200"/>
              </a:spcBef>
              <a:defRPr/>
            </a:lvl3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828119933"/>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3" name="Rechteck 2"/>
          <p:cNvSpPr/>
          <p:nvPr/>
        </p:nvSpPr>
        <p:spPr>
          <a:xfrm>
            <a:off x="0" y="2"/>
            <a:ext cx="12192000" cy="6129336"/>
          </a:xfrm>
          <a:prstGeom prst="rect">
            <a:avLst/>
          </a:prstGeom>
          <a:gradFill>
            <a:gsLst>
              <a:gs pos="14000">
                <a:schemeClr val="tx2"/>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2" name="Titel 1"/>
          <p:cNvSpPr>
            <a:spLocks noGrp="1"/>
          </p:cNvSpPr>
          <p:nvPr>
            <p:ph type="title"/>
          </p:nvPr>
        </p:nvSpPr>
        <p:spPr>
          <a:xfrm>
            <a:off x="874712" y="3387259"/>
            <a:ext cx="10580687" cy="1198491"/>
          </a:xfrm>
        </p:spPr>
        <p:txBody>
          <a:bodyPr/>
          <a:lstStyle>
            <a:lvl1pPr>
              <a:defRPr sz="3200" b="1">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1247067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5365749" y="1484313"/>
            <a:ext cx="6089649" cy="43449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Bildplatzhalter 7"/>
          <p:cNvSpPr>
            <a:spLocks noGrp="1"/>
          </p:cNvSpPr>
          <p:nvPr>
            <p:ph type="pic" sz="quarter" idx="13"/>
          </p:nvPr>
        </p:nvSpPr>
        <p:spPr>
          <a:xfrm>
            <a:off x="874711" y="1484313"/>
            <a:ext cx="4300539" cy="1332000"/>
          </a:xfrm>
        </p:spPr>
        <p:txBody>
          <a:bodyPr/>
          <a:lstStyle/>
          <a:p>
            <a:r>
              <a:rPr lang="de-DE"/>
              <a:t>Bild auf Platzhalter ziehen oder durch Klicken auf Symbol hinzufügen</a:t>
            </a:r>
            <a:endParaRPr lang="de-DE" dirty="0"/>
          </a:p>
        </p:txBody>
      </p:sp>
      <p:sp>
        <p:nvSpPr>
          <p:cNvPr id="10" name="Bildplatzhalter 7"/>
          <p:cNvSpPr>
            <a:spLocks noGrp="1"/>
          </p:cNvSpPr>
          <p:nvPr>
            <p:ph type="pic" sz="quarter" idx="14"/>
          </p:nvPr>
        </p:nvSpPr>
        <p:spPr>
          <a:xfrm>
            <a:off x="874712" y="2943181"/>
            <a:ext cx="4300537" cy="1332000"/>
          </a:xfrm>
        </p:spPr>
        <p:txBody>
          <a:bodyPr/>
          <a:lstStyle/>
          <a:p>
            <a:r>
              <a:rPr lang="de-DE"/>
              <a:t>Bild auf Platzhalter ziehen oder durch Klicken auf Symbol hinzufügen</a:t>
            </a:r>
            <a:endParaRPr lang="de-DE" dirty="0"/>
          </a:p>
        </p:txBody>
      </p:sp>
      <p:sp>
        <p:nvSpPr>
          <p:cNvPr id="11" name="Bildplatzhalter 7"/>
          <p:cNvSpPr>
            <a:spLocks noGrp="1"/>
          </p:cNvSpPr>
          <p:nvPr>
            <p:ph type="pic" sz="quarter" idx="15"/>
          </p:nvPr>
        </p:nvSpPr>
        <p:spPr>
          <a:xfrm>
            <a:off x="874710" y="4402050"/>
            <a:ext cx="4300537" cy="1427249"/>
          </a:xfrm>
        </p:spPr>
        <p:txBody>
          <a:bodyPr/>
          <a:lstStyle/>
          <a:p>
            <a:r>
              <a:rPr lang="de-DE"/>
              <a:t>Bild auf Platzhalter ziehen oder durch Klicken auf Symbol hinzufügen</a:t>
            </a:r>
            <a:endParaRPr lang="de-DE" dirty="0"/>
          </a:p>
        </p:txBody>
      </p:sp>
      <p:sp>
        <p:nvSpPr>
          <p:cNvPr id="4" name="Titel 3"/>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1291138792"/>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9" name="Bildplatzhalter 7"/>
          <p:cNvSpPr>
            <a:spLocks noGrp="1"/>
          </p:cNvSpPr>
          <p:nvPr>
            <p:ph type="pic" sz="quarter" idx="13"/>
          </p:nvPr>
        </p:nvSpPr>
        <p:spPr>
          <a:xfrm>
            <a:off x="6267449" y="1484314"/>
            <a:ext cx="5187950" cy="4344985"/>
          </a:xfrm>
        </p:spPr>
        <p:txBody>
          <a:bodyPr/>
          <a:lstStyle/>
          <a:p>
            <a:r>
              <a:rPr lang="de-DE"/>
              <a:t>Bild auf Platzhalter ziehen oder durch Klicken auf Symbol hinzufügen</a:t>
            </a:r>
            <a:endParaRPr lang="de-DE" dirty="0"/>
          </a:p>
        </p:txBody>
      </p:sp>
      <p:sp>
        <p:nvSpPr>
          <p:cNvPr id="7" name="Textplatzhalter 6"/>
          <p:cNvSpPr>
            <a:spLocks noGrp="1"/>
          </p:cNvSpPr>
          <p:nvPr>
            <p:ph type="body" sz="quarter" idx="14"/>
          </p:nvPr>
        </p:nvSpPr>
        <p:spPr>
          <a:xfrm>
            <a:off x="874713" y="1484314"/>
            <a:ext cx="5195887" cy="434498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7024276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Mastertitelformat bearbeiten</a:t>
            </a:r>
          </a:p>
        </p:txBody>
      </p:sp>
      <p:sp>
        <p:nvSpPr>
          <p:cNvPr id="6" name="Textplatzhalter 5"/>
          <p:cNvSpPr>
            <a:spLocks noGrp="1"/>
          </p:cNvSpPr>
          <p:nvPr>
            <p:ph type="body" sz="quarter" idx="10"/>
          </p:nvPr>
        </p:nvSpPr>
        <p:spPr>
          <a:xfrm>
            <a:off x="874713" y="1484314"/>
            <a:ext cx="5195887" cy="434498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1"/>
          </p:nvPr>
        </p:nvSpPr>
        <p:spPr>
          <a:xfrm>
            <a:off x="6267449" y="1484315"/>
            <a:ext cx="5187950" cy="43449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1366198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5"/>
            <a:ext cx="10580687" cy="684213"/>
          </a:xfrm>
        </p:spPr>
        <p:txBody>
          <a:bodyPr/>
          <a:lstStyle/>
          <a:p>
            <a:r>
              <a:rPr lang="de-DE"/>
              <a:t>Mastertitelformat bearbeiten</a:t>
            </a:r>
            <a:endParaRPr lang="de-DE" dirty="0"/>
          </a:p>
        </p:txBody>
      </p:sp>
      <p:sp>
        <p:nvSpPr>
          <p:cNvPr id="6" name="Textplatzhalter 5"/>
          <p:cNvSpPr>
            <a:spLocks noGrp="1"/>
          </p:cNvSpPr>
          <p:nvPr>
            <p:ph type="body" sz="quarter" idx="10"/>
          </p:nvPr>
        </p:nvSpPr>
        <p:spPr>
          <a:xfrm>
            <a:off x="874712" y="1484314"/>
            <a:ext cx="3399576" cy="434498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Textplatzhalter 7"/>
          <p:cNvSpPr>
            <a:spLocks noGrp="1"/>
          </p:cNvSpPr>
          <p:nvPr>
            <p:ph type="body" sz="quarter" idx="11"/>
          </p:nvPr>
        </p:nvSpPr>
        <p:spPr>
          <a:xfrm>
            <a:off x="8070849" y="1484315"/>
            <a:ext cx="3384550" cy="43449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Textplatzhalter 5"/>
          <p:cNvSpPr>
            <a:spLocks noGrp="1"/>
          </p:cNvSpPr>
          <p:nvPr>
            <p:ph type="body" sz="quarter" idx="12"/>
          </p:nvPr>
        </p:nvSpPr>
        <p:spPr>
          <a:xfrm>
            <a:off x="4457700" y="1484315"/>
            <a:ext cx="3416300" cy="43449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543359633"/>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7" name="Titel 1"/>
          <p:cNvSpPr txBox="1">
            <a:spLocks/>
          </p:cNvSpPr>
          <p:nvPr/>
        </p:nvSpPr>
        <p:spPr>
          <a:xfrm>
            <a:off x="6267450" y="368305"/>
            <a:ext cx="5046135" cy="662147"/>
          </a:xfrm>
          <a:prstGeom prst="rect">
            <a:avLst/>
          </a:prstGeom>
          <a:ln>
            <a:noFill/>
          </a:ln>
        </p:spPr>
        <p:txBody>
          <a:bodyPr vert="horz" lIns="0" tIns="0" rIns="0" bIns="0" rtlCol="0" anchor="t" anchorCtr="0">
            <a:noAutofit/>
          </a:bodyPr>
          <a:lstStyle>
            <a:lvl1pPr algn="l" defTabSz="914400" rtl="0" eaLnBrk="1" latinLnBrk="0" hangingPunct="1">
              <a:spcBef>
                <a:spcPct val="0"/>
              </a:spcBef>
              <a:buNone/>
              <a:defRPr sz="2400" b="1" kern="1200" baseline="0">
                <a:solidFill>
                  <a:schemeClr val="tx2"/>
                </a:solidFill>
                <a:latin typeface="Open Sans" panose="020B0606030504020204" pitchFamily="34" charset="0"/>
                <a:ea typeface="+mj-ea"/>
                <a:cs typeface="+mj-cs"/>
              </a:defRPr>
            </a:lvl1pPr>
          </a:lstStyle>
          <a:p>
            <a:r>
              <a:rPr lang="de-DE" sz="2400" dirty="0"/>
              <a:t>Titelmasterformat durch Klicken bearbeiten</a:t>
            </a:r>
          </a:p>
        </p:txBody>
      </p:sp>
      <p:sp>
        <p:nvSpPr>
          <p:cNvPr id="8" name="Textplatzhalter 5"/>
          <p:cNvSpPr>
            <a:spLocks noGrp="1"/>
          </p:cNvSpPr>
          <p:nvPr>
            <p:ph type="body" sz="quarter" idx="10"/>
          </p:nvPr>
        </p:nvSpPr>
        <p:spPr>
          <a:xfrm>
            <a:off x="874712" y="1484314"/>
            <a:ext cx="5195887" cy="434498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Textplatzhalter 7"/>
          <p:cNvSpPr>
            <a:spLocks noGrp="1"/>
          </p:cNvSpPr>
          <p:nvPr>
            <p:ph type="body" sz="quarter" idx="11"/>
          </p:nvPr>
        </p:nvSpPr>
        <p:spPr>
          <a:xfrm>
            <a:off x="6267450" y="1484315"/>
            <a:ext cx="5187950" cy="43449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3" name="Titel 2"/>
          <p:cNvSpPr>
            <a:spLocks noGrp="1"/>
          </p:cNvSpPr>
          <p:nvPr>
            <p:ph type="title"/>
          </p:nvPr>
        </p:nvSpPr>
        <p:spPr>
          <a:xfrm>
            <a:off x="874712" y="367507"/>
            <a:ext cx="5195887" cy="662781"/>
          </a:xfrm>
        </p:spPr>
        <p:txBody>
          <a:bodyPr/>
          <a:lstStyle/>
          <a:p>
            <a:r>
              <a:rPr lang="de-DE"/>
              <a:t>Mastertitelformat bearbeiten</a:t>
            </a:r>
            <a:endParaRPr lang="de-DE" dirty="0"/>
          </a:p>
        </p:txBody>
      </p:sp>
    </p:spTree>
    <p:extLst>
      <p:ext uri="{BB962C8B-B14F-4D97-AF65-F5344CB8AC3E}">
        <p14:creationId xmlns:p14="http://schemas.microsoft.com/office/powerpoint/2010/main" val="2676531681"/>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6"/>
            <a:ext cx="10580687" cy="509588"/>
          </a:xfrm>
        </p:spPr>
        <p:txBody>
          <a:bodyPr/>
          <a:lstStyle/>
          <a:p>
            <a:r>
              <a:rPr lang="de-DE"/>
              <a:t>Mastertitelformat bearbeiten</a:t>
            </a:r>
            <a:endParaRPr lang="de-DE" dirty="0"/>
          </a:p>
        </p:txBody>
      </p:sp>
    </p:spTree>
    <p:extLst>
      <p:ext uri="{BB962C8B-B14F-4D97-AF65-F5344CB8AC3E}">
        <p14:creationId xmlns:p14="http://schemas.microsoft.com/office/powerpoint/2010/main" val="1059847689"/>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Nur Titel">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6"/>
            <a:ext cx="10580687" cy="509588"/>
          </a:xfrm>
        </p:spPr>
        <p:txBody>
          <a:bodyPr/>
          <a:lstStyle/>
          <a:p>
            <a:r>
              <a:rPr lang="de-DE"/>
              <a:t>Mastertitelformat bearbeiten</a:t>
            </a:r>
            <a:endParaRPr lang="de-DE" dirty="0"/>
          </a:p>
        </p:txBody>
      </p:sp>
      <p:sp>
        <p:nvSpPr>
          <p:cNvPr id="7" name="Bildplatzhalter 6"/>
          <p:cNvSpPr>
            <a:spLocks noGrp="1"/>
          </p:cNvSpPr>
          <p:nvPr>
            <p:ph type="pic" sz="quarter" idx="10"/>
          </p:nvPr>
        </p:nvSpPr>
        <p:spPr>
          <a:xfrm>
            <a:off x="0" y="1030288"/>
            <a:ext cx="12192000" cy="5099050"/>
          </a:xfrm>
        </p:spPr>
        <p:txBody>
          <a:bodyPr/>
          <a:lstStyle/>
          <a:p>
            <a:r>
              <a:rPr lang="de-DE"/>
              <a:t>Bild auf Platzhalter ziehen oder durch Klicken auf Symbol hinzufügen</a:t>
            </a:r>
          </a:p>
        </p:txBody>
      </p:sp>
    </p:spTree>
    <p:extLst>
      <p:ext uri="{BB962C8B-B14F-4D97-AF65-F5344CB8AC3E}">
        <p14:creationId xmlns:p14="http://schemas.microsoft.com/office/powerpoint/2010/main" val="325895653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eer">
    <p:spTree>
      <p:nvGrpSpPr>
        <p:cNvPr id="1" name=""/>
        <p:cNvGrpSpPr/>
        <p:nvPr/>
      </p:nvGrpSpPr>
      <p:grpSpPr>
        <a:xfrm>
          <a:off x="0" y="0"/>
          <a:ext cx="0" cy="0"/>
          <a:chOff x="0" y="0"/>
          <a:chExt cx="0" cy="0"/>
        </a:xfrm>
      </p:grpSpPr>
      <p:sp>
        <p:nvSpPr>
          <p:cNvPr id="3" name="Bildplatzhalter 2"/>
          <p:cNvSpPr>
            <a:spLocks noGrp="1"/>
          </p:cNvSpPr>
          <p:nvPr>
            <p:ph type="pic" sz="quarter" idx="10"/>
          </p:nvPr>
        </p:nvSpPr>
        <p:spPr>
          <a:xfrm>
            <a:off x="0" y="6"/>
            <a:ext cx="12192000" cy="6129331"/>
          </a:xfrm>
        </p:spPr>
        <p:txBody>
          <a:bodyPr/>
          <a:lstStyle/>
          <a:p>
            <a:r>
              <a:rPr lang="de-DE"/>
              <a:t>Bild auf Platzhalter ziehen oder durch Klicken auf Symbol hinzufügen</a:t>
            </a:r>
          </a:p>
        </p:txBody>
      </p:sp>
    </p:spTree>
    <p:extLst>
      <p:ext uri="{BB962C8B-B14F-4D97-AF65-F5344CB8AC3E}">
        <p14:creationId xmlns:p14="http://schemas.microsoft.com/office/powerpoint/2010/main" val="267961108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3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2F5799-4417-FC2C-BEC8-F4082AC30C9E}"/>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58B0395B-12A3-EEAB-8E7B-214154FBA1EC}"/>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E4834ABD-E304-2111-24C8-CC14438DE59F}"/>
              </a:ext>
            </a:extLst>
          </p:cNvPr>
          <p:cNvSpPr>
            <a:spLocks noGrp="1"/>
          </p:cNvSpPr>
          <p:nvPr>
            <p:ph type="dt" sz="half" idx="10"/>
          </p:nvPr>
        </p:nvSpPr>
        <p:spPr/>
        <p:txBody>
          <a:bodyPr/>
          <a:lstStyle/>
          <a:p>
            <a:fld id="{91B0443D-41D9-4D4B-91C5-1E41B82CF381}" type="datetimeFigureOut">
              <a:rPr lang="en-US" smtClean="0"/>
              <a:t>11/14/2025</a:t>
            </a:fld>
            <a:endParaRPr lang="en-US"/>
          </a:p>
        </p:txBody>
      </p:sp>
      <p:sp>
        <p:nvSpPr>
          <p:cNvPr id="5" name="Fußzeilenplatzhalter 4">
            <a:extLst>
              <a:ext uri="{FF2B5EF4-FFF2-40B4-BE49-F238E27FC236}">
                <a16:creationId xmlns:a16="http://schemas.microsoft.com/office/drawing/2014/main" id="{2E5C9781-9CDA-0F0A-CFC9-DE18EC604729}"/>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C34D38C7-3CD0-AF98-E28A-840A9CB59B61}"/>
              </a:ext>
            </a:extLst>
          </p:cNvPr>
          <p:cNvSpPr>
            <a:spLocks noGrp="1"/>
          </p:cNvSpPr>
          <p:nvPr>
            <p:ph type="sldNum" sz="quarter" idx="12"/>
          </p:nvPr>
        </p:nvSpPr>
        <p:spPr/>
        <p:txBody>
          <a:bodyPr/>
          <a:lstStyle/>
          <a:p>
            <a:fld id="{42348C46-9981-F44A-A795-3569787E7CFE}" type="slidenum">
              <a:rPr lang="en-US" smtClean="0"/>
              <a:t>‹Nr.›</a:t>
            </a:fld>
            <a:endParaRPr lang="en-US"/>
          </a:p>
        </p:txBody>
      </p:sp>
    </p:spTree>
    <p:extLst>
      <p:ext uri="{BB962C8B-B14F-4D97-AF65-F5344CB8AC3E}">
        <p14:creationId xmlns:p14="http://schemas.microsoft.com/office/powerpoint/2010/main" val="881771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_Titelfolie_TUD_blauverlauf">
    <p:spTree>
      <p:nvGrpSpPr>
        <p:cNvPr id="1" name=""/>
        <p:cNvGrpSpPr/>
        <p:nvPr/>
      </p:nvGrpSpPr>
      <p:grpSpPr>
        <a:xfrm>
          <a:off x="0" y="0"/>
          <a:ext cx="0" cy="0"/>
          <a:chOff x="0" y="0"/>
          <a:chExt cx="0" cy="0"/>
        </a:xfrm>
      </p:grpSpPr>
      <p:sp>
        <p:nvSpPr>
          <p:cNvPr id="13" name="Rechteck 12"/>
          <p:cNvSpPr/>
          <p:nvPr/>
        </p:nvSpPr>
        <p:spPr>
          <a:xfrm>
            <a:off x="0" y="2"/>
            <a:ext cx="12192000" cy="6858001"/>
          </a:xfrm>
          <a:prstGeom prst="rect">
            <a:avLst/>
          </a:prstGeom>
          <a:gradFill>
            <a:gsLst>
              <a:gs pos="14000">
                <a:schemeClr val="accent2"/>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 name="Textplatzhalter 25"/>
          <p:cNvSpPr>
            <a:spLocks noGrp="1"/>
          </p:cNvSpPr>
          <p:nvPr>
            <p:ph type="body" sz="quarter" idx="10" hasCustomPrompt="1"/>
          </p:nvPr>
        </p:nvSpPr>
        <p:spPr>
          <a:xfrm>
            <a:off x="882809" y="2852117"/>
            <a:ext cx="1144544" cy="184666"/>
          </a:xfrm>
          <a:prstGeom prst="rect">
            <a:avLst/>
          </a:prstGeom>
          <a:noFill/>
          <a:ln>
            <a:noFill/>
          </a:ln>
        </p:spPr>
        <p:txBody>
          <a:bodyPr wrap="none" lIns="0">
            <a:spAutoFit/>
          </a:bodyPr>
          <a:lstStyle>
            <a:lvl1pPr>
              <a:spcBef>
                <a:spcPts val="0"/>
              </a:spcBef>
              <a:defRPr sz="1200" b="1">
                <a:solidFill>
                  <a:schemeClr val="bg1">
                    <a:alpha val="70000"/>
                  </a:schemeClr>
                </a:solidFill>
              </a:defRPr>
            </a:lvl1pPr>
          </a:lstStyle>
          <a:p>
            <a:pPr lvl="0"/>
            <a:r>
              <a:rPr lang="de-DE" dirty="0"/>
              <a:t>Vorname, Name</a:t>
            </a:r>
          </a:p>
        </p:txBody>
      </p:sp>
      <p:sp>
        <p:nvSpPr>
          <p:cNvPr id="14" name="Titel 1"/>
          <p:cNvSpPr>
            <a:spLocks noGrp="1"/>
          </p:cNvSpPr>
          <p:nvPr>
            <p:ph type="title" hasCustomPrompt="1"/>
          </p:nvPr>
        </p:nvSpPr>
        <p:spPr>
          <a:xfrm>
            <a:off x="882772" y="3835706"/>
            <a:ext cx="2556790" cy="369332"/>
          </a:xfrm>
          <a:noFill/>
          <a:ln>
            <a:noFill/>
          </a:ln>
        </p:spPr>
        <p:txBody>
          <a:bodyPr wrap="none" lIns="0">
            <a:spAutoFit/>
          </a:bodyPr>
          <a:lstStyle>
            <a:lvl1pPr>
              <a:defRPr sz="2400" b="1">
                <a:solidFill>
                  <a:schemeClr val="bg1"/>
                </a:solidFill>
              </a:defRPr>
            </a:lvl1pPr>
          </a:lstStyle>
          <a:p>
            <a:r>
              <a:rPr lang="de-DE" dirty="0"/>
              <a:t>Titelmasterformat</a:t>
            </a:r>
          </a:p>
        </p:txBody>
      </p:sp>
      <p:sp>
        <p:nvSpPr>
          <p:cNvPr id="15" name="Untertitel 2"/>
          <p:cNvSpPr>
            <a:spLocks noGrp="1"/>
          </p:cNvSpPr>
          <p:nvPr>
            <p:ph type="subTitle" idx="1" hasCustomPrompt="1"/>
          </p:nvPr>
        </p:nvSpPr>
        <p:spPr>
          <a:xfrm>
            <a:off x="882772" y="5028237"/>
            <a:ext cx="4472378" cy="184666"/>
          </a:xfrm>
          <a:prstGeom prst="rect">
            <a:avLst/>
          </a:prstGeom>
          <a:noFill/>
        </p:spPr>
        <p:txBody>
          <a:bodyPr wrap="none" lIns="0">
            <a:spAutoFit/>
          </a:bodyPr>
          <a:lstStyle>
            <a:lvl1pPr marL="0" indent="0" algn="l">
              <a:buNone/>
              <a:defRPr b="0">
                <a:solidFill>
                  <a:schemeClr val="bg1">
                    <a:alpha val="7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dirty="0"/>
              <a:t>Formatvorlage des Untertitelmasters durch Klicken bearbeiten</a:t>
            </a:r>
          </a:p>
        </p:txBody>
      </p:sp>
      <p:sp>
        <p:nvSpPr>
          <p:cNvPr id="16" name="Textplatzhalter 25">
            <a:extLst>
              <a:ext uri="{FF2B5EF4-FFF2-40B4-BE49-F238E27FC236}">
                <a16:creationId xmlns:a16="http://schemas.microsoft.com/office/drawing/2014/main" id="{78DD96F1-BE0C-4FE4-B69F-BA85926561C9}"/>
              </a:ext>
            </a:extLst>
          </p:cNvPr>
          <p:cNvSpPr>
            <a:spLocks noGrp="1"/>
          </p:cNvSpPr>
          <p:nvPr>
            <p:ph type="body" sz="quarter" idx="11" hasCustomPrompt="1"/>
          </p:nvPr>
        </p:nvSpPr>
        <p:spPr>
          <a:xfrm>
            <a:off x="882808" y="3138046"/>
            <a:ext cx="2253822" cy="184666"/>
          </a:xfrm>
          <a:prstGeom prst="rect">
            <a:avLst/>
          </a:prstGeom>
          <a:noFill/>
          <a:ln>
            <a:noFill/>
          </a:ln>
        </p:spPr>
        <p:txBody>
          <a:bodyPr wrap="none" lIns="0">
            <a:spAutoFit/>
          </a:bodyPr>
          <a:lstStyle>
            <a:lvl1pPr>
              <a:spcBef>
                <a:spcPts val="0"/>
              </a:spcBef>
              <a:defRPr sz="1200" b="0">
                <a:solidFill>
                  <a:schemeClr val="bg1">
                    <a:alpha val="70000"/>
                  </a:schemeClr>
                </a:solidFill>
              </a:defRPr>
            </a:lvl1pPr>
          </a:lstStyle>
          <a:p>
            <a:pPr lvl="0"/>
            <a:r>
              <a:rPr lang="de-DE" dirty="0"/>
              <a:t>Struktureinheit der TU Dresden</a:t>
            </a:r>
          </a:p>
        </p:txBody>
      </p:sp>
      <p:sp>
        <p:nvSpPr>
          <p:cNvPr id="17" name="Textplatzhalter 5">
            <a:extLst>
              <a:ext uri="{FF2B5EF4-FFF2-40B4-BE49-F238E27FC236}">
                <a16:creationId xmlns:a16="http://schemas.microsoft.com/office/drawing/2014/main" id="{AB2194A4-CBE4-4A84-B1E9-D417CDD94A30}"/>
              </a:ext>
            </a:extLst>
          </p:cNvPr>
          <p:cNvSpPr>
            <a:spLocks noGrp="1"/>
          </p:cNvSpPr>
          <p:nvPr>
            <p:ph type="body" sz="quarter" idx="12" hasCustomPrompt="1"/>
          </p:nvPr>
        </p:nvSpPr>
        <p:spPr>
          <a:xfrm>
            <a:off x="882771" y="4375610"/>
            <a:ext cx="3507370" cy="369332"/>
          </a:xfrm>
          <a:prstGeom prst="rect">
            <a:avLst/>
          </a:prstGeom>
          <a:noFill/>
        </p:spPr>
        <p:txBody>
          <a:bodyPr wrap="none" lIns="0">
            <a:spAutoFit/>
          </a:bodyPr>
          <a:lstStyle>
            <a:lvl1pPr>
              <a:defRPr sz="2400" b="0">
                <a:solidFill>
                  <a:schemeClr val="bg1"/>
                </a:solidFill>
              </a:defRPr>
            </a:lvl1pPr>
            <a:lvl3pPr marL="54000" indent="0">
              <a:buNone/>
              <a:defRPr/>
            </a:lvl3pPr>
            <a:lvl4pPr marL="135000" indent="0">
              <a:buNone/>
              <a:defRPr/>
            </a:lvl4pPr>
          </a:lstStyle>
          <a:p>
            <a:pPr lvl="0"/>
            <a:r>
              <a:rPr lang="de-DE" dirty="0"/>
              <a:t>durch Kicken bearbeiten</a:t>
            </a:r>
          </a:p>
        </p:txBody>
      </p:sp>
      <p:sp>
        <p:nvSpPr>
          <p:cNvPr id="18" name="Textplatzhalter 7">
            <a:extLst>
              <a:ext uri="{FF2B5EF4-FFF2-40B4-BE49-F238E27FC236}">
                <a16:creationId xmlns:a16="http://schemas.microsoft.com/office/drawing/2014/main" id="{F1D71DE1-F9B2-4550-A173-A1C0CE63C085}"/>
              </a:ext>
            </a:extLst>
          </p:cNvPr>
          <p:cNvSpPr>
            <a:spLocks noGrp="1"/>
          </p:cNvSpPr>
          <p:nvPr>
            <p:ph type="body" sz="quarter" idx="13" hasCustomPrompt="1"/>
          </p:nvPr>
        </p:nvSpPr>
        <p:spPr>
          <a:xfrm>
            <a:off x="882808" y="5312642"/>
            <a:ext cx="3468898" cy="184666"/>
          </a:xfrm>
          <a:prstGeom prst="rect">
            <a:avLst/>
          </a:prstGeom>
          <a:noFill/>
        </p:spPr>
        <p:txBody>
          <a:bodyPr wrap="none" lIns="0">
            <a:spAutoFit/>
          </a:bodyPr>
          <a:lstStyle>
            <a:lvl1pPr>
              <a:defRPr b="0">
                <a:solidFill>
                  <a:schemeClr val="bg1">
                    <a:alpha val="70000"/>
                  </a:schemeClr>
                </a:solidFill>
              </a:defRPr>
            </a:lvl1pPr>
          </a:lstStyle>
          <a:p>
            <a:pPr lvl="0"/>
            <a:r>
              <a:rPr lang="de-DE" dirty="0"/>
              <a:t>Ort oder Anlass des Vortrags // 18. Februar 2022</a:t>
            </a:r>
          </a:p>
        </p:txBody>
      </p:sp>
      <p:pic>
        <p:nvPicPr>
          <p:cNvPr id="19" name="Grafik 18" descr="Logo. Acht unregelmäßige Dreiecksflächen sind, im Uhrzeigersinn zu einem regelmäßig achteckigen Ring angeordnet. Links daneben zweizeilig der Schriftzug &quot;DRESDEN concept" title="Logo Dresden concep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7693" y="329323"/>
            <a:ext cx="1463907" cy="543600"/>
          </a:xfrm>
          <a:prstGeom prst="rect">
            <a:avLst/>
          </a:prstGeom>
        </p:spPr>
      </p:pic>
      <p:pic>
        <p:nvPicPr>
          <p:cNvPr id="20" name="Grafik 19" descr="Logo. Schriftzug &quot;Technische Universität Dresden&quot;. Links davon befindet sich ein Achteck, das in zwei Bereiche aufgeteilt ist, die zusammen die Buchstaben &quot;T&quot; und &quot;U&quot; ergeben." title="Logo der TU Dresd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304" y="349731"/>
            <a:ext cx="1765029" cy="514800"/>
          </a:xfrm>
          <a:prstGeom prst="rect">
            <a:avLst/>
          </a:prstGeom>
        </p:spPr>
      </p:pic>
    </p:spTree>
    <p:extLst>
      <p:ext uri="{BB962C8B-B14F-4D97-AF65-F5344CB8AC3E}">
        <p14:creationId xmlns:p14="http://schemas.microsoft.com/office/powerpoint/2010/main" val="146749407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Benutzerdefiniertes Layout">
    <p:spTree>
      <p:nvGrpSpPr>
        <p:cNvPr id="1" name=""/>
        <p:cNvGrpSpPr/>
        <p:nvPr/>
      </p:nvGrpSpPr>
      <p:grpSpPr>
        <a:xfrm>
          <a:off x="0" y="0"/>
          <a:ext cx="0" cy="0"/>
          <a:chOff x="0" y="0"/>
          <a:chExt cx="0" cy="0"/>
        </a:xfrm>
      </p:grpSpPr>
      <p:sp>
        <p:nvSpPr>
          <p:cNvPr id="3" name="Rechteck 2"/>
          <p:cNvSpPr/>
          <p:nvPr/>
        </p:nvSpPr>
        <p:spPr>
          <a:xfrm>
            <a:off x="0" y="3"/>
            <a:ext cx="12192000" cy="6092822"/>
          </a:xfrm>
          <a:prstGeom prst="rect">
            <a:avLst/>
          </a:prstGeom>
          <a:gradFill>
            <a:gsLst>
              <a:gs pos="14000">
                <a:schemeClr val="tx2"/>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2" name="Titel 1"/>
          <p:cNvSpPr>
            <a:spLocks noGrp="1"/>
          </p:cNvSpPr>
          <p:nvPr>
            <p:ph type="title"/>
          </p:nvPr>
        </p:nvSpPr>
        <p:spPr>
          <a:xfrm>
            <a:off x="874714" y="3387259"/>
            <a:ext cx="10580687" cy="1198491"/>
          </a:xfrm>
        </p:spPr>
        <p:txBody>
          <a:bodyPr/>
          <a:lstStyle>
            <a:lvl1pPr>
              <a:defRPr sz="3200" b="1">
                <a:ln>
                  <a:noFill/>
                </a:ln>
                <a:solidFill>
                  <a:schemeClr val="bg1"/>
                </a:solidFill>
              </a:defRPr>
            </a:lvl1pPr>
          </a:lstStyle>
          <a:p>
            <a:r>
              <a:rPr lang="de-DE"/>
              <a:t>Titelmasterformat durch Klicken bearbeiten</a:t>
            </a:r>
            <a:endParaRPr lang="de-DE" dirty="0"/>
          </a:p>
        </p:txBody>
      </p:sp>
    </p:spTree>
    <p:extLst>
      <p:ext uri="{BB962C8B-B14F-4D97-AF65-F5344CB8AC3E}">
        <p14:creationId xmlns:p14="http://schemas.microsoft.com/office/powerpoint/2010/main" val="163393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74712" y="346075"/>
            <a:ext cx="10580687" cy="684213"/>
          </a:xfrm>
          <a:prstGeom prst="rect">
            <a:avLst/>
          </a:prstGeom>
          <a:ln>
            <a:noFill/>
          </a:ln>
        </p:spPr>
        <p:txBody>
          <a:bodyPr vert="horz" lIns="0" tIns="0" rIns="0" bIns="0" rtlCol="0" anchor="t" anchorCtr="0">
            <a:noAutofit/>
          </a:bodyPr>
          <a:lstStyle/>
          <a:p>
            <a:r>
              <a:rPr lang="de-DE" dirty="0"/>
              <a:t>Das ist eine Überschrift</a:t>
            </a:r>
            <a:br>
              <a:rPr lang="de-DE" dirty="0"/>
            </a:br>
            <a:r>
              <a:rPr lang="de-DE" dirty="0"/>
              <a:t>in zwei Zeilen</a:t>
            </a:r>
          </a:p>
        </p:txBody>
      </p:sp>
      <p:sp>
        <p:nvSpPr>
          <p:cNvPr id="3" name="Textplatzhalter 2"/>
          <p:cNvSpPr>
            <a:spLocks noGrp="1"/>
          </p:cNvSpPr>
          <p:nvPr>
            <p:ph type="body" idx="1"/>
          </p:nvPr>
        </p:nvSpPr>
        <p:spPr>
          <a:xfrm>
            <a:off x="874712" y="1481138"/>
            <a:ext cx="10580687" cy="4360861"/>
          </a:xfrm>
          <a:prstGeom prst="rect">
            <a:avLst/>
          </a:prstGeom>
          <a:ln>
            <a:noFill/>
          </a:ln>
        </p:spPr>
        <p:txBody>
          <a:bodyPr vert="horz" lIns="0" tIns="0" rIns="0" bIns="0" rtlCol="0">
            <a:noAutofit/>
          </a:bodyPr>
          <a:lstStyle/>
          <a:p>
            <a:pPr lvl="0"/>
            <a:r>
              <a:rPr lang="de-DE" dirty="0"/>
              <a:t>Erste Textebene (16pt)</a:t>
            </a:r>
          </a:p>
          <a:p>
            <a:pPr lvl="1"/>
            <a:r>
              <a:rPr lang="de-DE" dirty="0"/>
              <a:t>Zweite Textebene für Aufzählungen</a:t>
            </a:r>
          </a:p>
          <a:p>
            <a:pPr lvl="2"/>
            <a:r>
              <a:rPr lang="de-DE" dirty="0"/>
              <a:t>Dritte Textebene bei viel Text (14pt)</a:t>
            </a:r>
          </a:p>
          <a:p>
            <a:pPr lvl="3"/>
            <a:r>
              <a:rPr lang="de-DE" dirty="0"/>
              <a:t>Vierte Textebene für Aufzählungen bei viel Text</a:t>
            </a:r>
          </a:p>
          <a:p>
            <a:pPr lvl="4"/>
            <a:r>
              <a:rPr lang="de-DE" dirty="0"/>
              <a:t>Fünfte Ebene</a:t>
            </a:r>
          </a:p>
          <a:p>
            <a:pPr lvl="5"/>
            <a:r>
              <a:rPr lang="de-DE" dirty="0"/>
              <a:t>Zwischenseite</a:t>
            </a:r>
          </a:p>
          <a:p>
            <a:pPr lvl="6"/>
            <a:r>
              <a:rPr lang="de-DE" dirty="0"/>
              <a:t>Für den nächsten Präsentationsabschnitt</a:t>
            </a:r>
          </a:p>
        </p:txBody>
      </p:sp>
      <p:sp>
        <p:nvSpPr>
          <p:cNvPr id="4" name="Textfeld 3"/>
          <p:cNvSpPr txBox="1"/>
          <p:nvPr userDrawn="1"/>
        </p:nvSpPr>
        <p:spPr>
          <a:xfrm>
            <a:off x="3575050" y="6319797"/>
            <a:ext cx="5187950" cy="369332"/>
          </a:xfrm>
          <a:prstGeom prst="rect">
            <a:avLst/>
          </a:prstGeom>
          <a:noFill/>
        </p:spPr>
        <p:txBody>
          <a:bodyPr wrap="square" lIns="0" tIns="0" rIns="0" bIns="0" rtlCol="0" anchor="b">
            <a:spAutoFit/>
          </a:bodyPr>
          <a:lstStyle/>
          <a:p>
            <a:pPr marL="0" marR="0" lvl="0" indent="0" algn="l" defTabSz="914269" rtl="0" eaLnBrk="1" fontAlgn="auto" latinLnBrk="0" hangingPunct="1">
              <a:lnSpc>
                <a:spcPct val="100000"/>
              </a:lnSpc>
              <a:spcBef>
                <a:spcPts val="0"/>
              </a:spcBef>
              <a:spcAft>
                <a:spcPts val="0"/>
              </a:spcAft>
              <a:buClrTx/>
              <a:buSzTx/>
              <a:buFontTx/>
              <a:buNone/>
              <a:tabLst/>
              <a:defRPr/>
            </a:pPr>
            <a:r>
              <a:rPr lang="en-US" sz="800" noProof="0" dirty="0">
                <a:solidFill>
                  <a:schemeClr val="bg2"/>
                </a:solidFill>
              </a:rPr>
              <a:t>R Markdown w/ GitHub</a:t>
            </a:r>
          </a:p>
          <a:p>
            <a:pPr algn="l"/>
            <a:r>
              <a:rPr lang="en-US" sz="800" noProof="0" dirty="0">
                <a:solidFill>
                  <a:schemeClr val="bg2"/>
                </a:solidFill>
                <a:latin typeface="Open Sans" panose="020B0606030504020204" pitchFamily="34" charset="0"/>
                <a:ea typeface="Open Sans" panose="020B0606030504020204" pitchFamily="34" charset="0"/>
                <a:cs typeface="Open Sans" panose="020B0606030504020204" pitchFamily="34" charset="0"/>
              </a:rPr>
              <a:t>Alexander Strobel / alexander.strobel@tu-dresden.de</a:t>
            </a:r>
            <a:endParaRPr lang="en-US" sz="800" baseline="0" noProof="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algn="l"/>
            <a:r>
              <a:rPr lang="en-US" sz="800" baseline="0" noProof="0" dirty="0">
                <a:solidFill>
                  <a:schemeClr val="bg2"/>
                </a:solidFill>
                <a:latin typeface="Open Sans" panose="020B0606030504020204" pitchFamily="34" charset="0"/>
                <a:ea typeface="Open Sans" panose="020B0606030504020204" pitchFamily="34" charset="0"/>
                <a:cs typeface="Open Sans" panose="020B0606030504020204" pitchFamily="34" charset="0"/>
              </a:rPr>
              <a:t>Dresden // </a:t>
            </a:r>
            <a:fld id="{E7EE72DE-9844-E444-B0B2-2277304B95E8}" type="datetime1">
              <a:rPr lang="en-US" sz="800" baseline="0" noProof="0" smtClean="0">
                <a:solidFill>
                  <a:schemeClr val="bg2"/>
                </a:solidFill>
                <a:latin typeface="Open Sans" panose="020B0606030504020204" pitchFamily="34" charset="0"/>
                <a:ea typeface="Open Sans" panose="020B0606030504020204" pitchFamily="34" charset="0"/>
                <a:cs typeface="Open Sans" panose="020B0606030504020204" pitchFamily="34" charset="0"/>
              </a:rPr>
              <a:t>11/14/2025</a:t>
            </a:fld>
            <a:endParaRPr lang="en-US" sz="800" noProof="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8" name="Gerade Verbindung 14"/>
          <p:cNvCxnSpPr/>
          <p:nvPr/>
        </p:nvCxnSpPr>
        <p:spPr>
          <a:xfrm>
            <a:off x="0" y="6123216"/>
            <a:ext cx="12192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Textfeld 11"/>
          <p:cNvSpPr txBox="1"/>
          <p:nvPr/>
        </p:nvSpPr>
        <p:spPr>
          <a:xfrm>
            <a:off x="8966200" y="6306444"/>
            <a:ext cx="704850" cy="369332"/>
          </a:xfrm>
          <a:prstGeom prst="rect">
            <a:avLst/>
          </a:prstGeom>
          <a:noFill/>
        </p:spPr>
        <p:txBody>
          <a:bodyPr wrap="square" lIns="0" tIns="0" rIns="0" bIns="0" rtlCol="0" anchor="b">
            <a:spAutoFit/>
          </a:bodyPr>
          <a:lstStyle/>
          <a:p>
            <a:pPr marL="0" marR="0" lvl="0" indent="0" algn="r" defTabSz="914269" rtl="0" eaLnBrk="1" fontAlgn="auto" latinLnBrk="0" hangingPunct="1">
              <a:lnSpc>
                <a:spcPct val="100000"/>
              </a:lnSpc>
              <a:spcBef>
                <a:spcPts val="0"/>
              </a:spcBef>
              <a:spcAft>
                <a:spcPts val="0"/>
              </a:spcAft>
              <a:buClrTx/>
              <a:buSzTx/>
              <a:buFontTx/>
              <a:buNone/>
              <a:tabLst/>
              <a:defRPr/>
            </a:pPr>
            <a:br>
              <a:rPr lang="de-DE" sz="800" dirty="0">
                <a:solidFill>
                  <a:schemeClr val="bg2"/>
                </a:solidFill>
                <a:latin typeface="Open Sans" panose="020B0606030504020204" pitchFamily="34" charset="0"/>
                <a:ea typeface="Open Sans" panose="020B0606030504020204" pitchFamily="34" charset="0"/>
                <a:cs typeface="Open Sans" panose="020B0606030504020204" pitchFamily="34" charset="0"/>
              </a:rPr>
            </a:br>
            <a:r>
              <a:rPr lang="de-DE" sz="800" dirty="0">
                <a:solidFill>
                  <a:schemeClr val="bg2"/>
                </a:solidFill>
                <a:latin typeface="Open Sans" panose="020B0606030504020204" pitchFamily="34" charset="0"/>
                <a:ea typeface="Open Sans" panose="020B0606030504020204" pitchFamily="34" charset="0"/>
                <a:cs typeface="Open Sans" panose="020B0606030504020204" pitchFamily="34" charset="0"/>
              </a:rPr>
              <a:t>Slide</a:t>
            </a:r>
            <a:r>
              <a:rPr lang="de-DE" sz="800" baseline="0" dirty="0">
                <a:solidFill>
                  <a:schemeClr val="bg2"/>
                </a:solidFill>
                <a:latin typeface="Open Sans" panose="020B0606030504020204" pitchFamily="34" charset="0"/>
                <a:ea typeface="Open Sans" panose="020B0606030504020204" pitchFamily="34" charset="0"/>
                <a:cs typeface="Open Sans" panose="020B0606030504020204" pitchFamily="34" charset="0"/>
              </a:rPr>
              <a:t> </a:t>
            </a:r>
            <a:fld id="{38F97D41-8991-4148-BA02-56FEE4AAF2CC}" type="slidenum">
              <a:rPr lang="de-DE" sz="800" baseline="0" smtClean="0">
                <a:solidFill>
                  <a:schemeClr val="bg2"/>
                </a:solidFill>
                <a:latin typeface="Open Sans" panose="020B0606030504020204" pitchFamily="34" charset="0"/>
                <a:ea typeface="Open Sans" panose="020B0606030504020204" pitchFamily="34" charset="0"/>
                <a:cs typeface="Open Sans" panose="020B0606030504020204" pitchFamily="34" charset="0"/>
              </a:rPr>
              <a:pPr marL="0" marR="0" lvl="0" indent="0" algn="r" defTabSz="914269" rtl="0" eaLnBrk="1" fontAlgn="auto" latinLnBrk="0" hangingPunct="1">
                <a:lnSpc>
                  <a:spcPct val="100000"/>
                </a:lnSpc>
                <a:spcBef>
                  <a:spcPts val="0"/>
                </a:spcBef>
                <a:spcAft>
                  <a:spcPts val="0"/>
                </a:spcAft>
                <a:buClrTx/>
                <a:buSzTx/>
                <a:buFontTx/>
                <a:buNone/>
                <a:tabLst/>
                <a:defRPr/>
              </a:pPr>
              <a:t>‹Nr.›</a:t>
            </a:fld>
            <a:endParaRPr lang="de-DE" sz="800" baseline="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r" defTabSz="914269" rtl="0" eaLnBrk="1" fontAlgn="auto" latinLnBrk="0" hangingPunct="1">
              <a:lnSpc>
                <a:spcPct val="100000"/>
              </a:lnSpc>
              <a:spcBef>
                <a:spcPts val="0"/>
              </a:spcBef>
              <a:spcAft>
                <a:spcPts val="0"/>
              </a:spcAft>
              <a:buClrTx/>
              <a:buSzTx/>
              <a:buFontTx/>
              <a:buNone/>
              <a:tabLst/>
              <a:defRPr/>
            </a:pPr>
            <a:endParaRPr lang="de-DE" sz="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9" name="Grafik 8"/>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973955" y="6336430"/>
            <a:ext cx="770373" cy="350618"/>
          </a:xfrm>
          <a:prstGeom prst="rect">
            <a:avLst/>
          </a:prstGeom>
        </p:spPr>
      </p:pic>
      <p:pic>
        <p:nvPicPr>
          <p:cNvPr id="10" name="Grafik 9"/>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506293" y="6336706"/>
            <a:ext cx="1115691" cy="324444"/>
          </a:xfrm>
          <a:prstGeom prst="rect">
            <a:avLst/>
          </a:prstGeom>
        </p:spPr>
      </p:pic>
    </p:spTree>
    <p:extLst>
      <p:ext uri="{BB962C8B-B14F-4D97-AF65-F5344CB8AC3E}">
        <p14:creationId xmlns:p14="http://schemas.microsoft.com/office/powerpoint/2010/main" val="2089890264"/>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 id="2147483905" r:id="rId14"/>
    <p:sldLayoutId id="2147483907" r:id="rId15"/>
  </p:sldLayoutIdLst>
  <p:hf hdr="0"/>
  <p:txStyles>
    <p:titleStyle>
      <a:lvl1pPr algn="l" defTabSz="914269" rtl="0" eaLnBrk="1" latinLnBrk="0" hangingPunct="1">
        <a:spcBef>
          <a:spcPct val="0"/>
        </a:spcBef>
        <a:buNone/>
        <a:defRPr sz="2400" b="1" kern="1200" baseline="0">
          <a:solidFill>
            <a:schemeClr val="tx2"/>
          </a:solidFill>
          <a:latin typeface="Open Sans" panose="020B0606030504020204" pitchFamily="34" charset="0"/>
          <a:ea typeface="+mj-ea"/>
          <a:cs typeface="+mj-cs"/>
        </a:defRPr>
      </a:lvl1pPr>
    </p:titleStyle>
    <p:bodyStyle>
      <a:lvl1pPr marL="0" indent="0" algn="l" defTabSz="914269" rtl="0" eaLnBrk="1" latinLnBrk="0" hangingPunct="1">
        <a:spcBef>
          <a:spcPts val="600"/>
        </a:spcBef>
        <a:buFont typeface="Arial" panose="020B0604020202020204" pitchFamily="34" charset="0"/>
        <a:buNone/>
        <a:defRPr sz="1600" kern="1200">
          <a:solidFill>
            <a:schemeClr val="tx2"/>
          </a:solidFill>
          <a:latin typeface="Open Sans" panose="020B0606030504020204" pitchFamily="34" charset="0"/>
          <a:ea typeface="+mn-ea"/>
          <a:cs typeface="+mn-cs"/>
        </a:defRPr>
      </a:lvl1pPr>
      <a:lvl2pPr marL="395942" indent="-323953" algn="l" defTabSz="914269" rtl="0" eaLnBrk="1" latinLnBrk="0" hangingPunct="1">
        <a:spcBef>
          <a:spcPts val="300"/>
        </a:spcBef>
        <a:buFont typeface="Open Sans" panose="020B0606030504020204" pitchFamily="34" charset="0"/>
        <a:buChar char="—"/>
        <a:defRPr sz="1600" kern="1200">
          <a:solidFill>
            <a:schemeClr val="tx2"/>
          </a:solidFill>
          <a:latin typeface="Open Sans" panose="020B0606030504020204" pitchFamily="34" charset="0"/>
          <a:ea typeface="+mn-ea"/>
          <a:cs typeface="+mn-cs"/>
        </a:defRPr>
      </a:lvl2pPr>
      <a:lvl3pPr marL="0" indent="0" algn="l" defTabSz="914269" rtl="0" eaLnBrk="1" latinLnBrk="0" hangingPunct="1">
        <a:spcBef>
          <a:spcPts val="600"/>
        </a:spcBef>
        <a:buFont typeface="Arial" panose="020B0604020202020204" pitchFamily="34" charset="0"/>
        <a:buNone/>
        <a:defRPr sz="1400" kern="1200">
          <a:solidFill>
            <a:schemeClr val="tx2"/>
          </a:solidFill>
          <a:latin typeface="Open Sans" panose="020B0606030504020204" pitchFamily="34" charset="0"/>
          <a:ea typeface="+mn-ea"/>
          <a:cs typeface="+mn-cs"/>
        </a:defRPr>
      </a:lvl3pPr>
      <a:lvl4pPr marL="395942" indent="-215969" algn="l" defTabSz="914269" rtl="0" eaLnBrk="1" latinLnBrk="0" hangingPunct="1">
        <a:spcBef>
          <a:spcPts val="300"/>
        </a:spcBef>
        <a:buFont typeface="Symbol" panose="05050102010706020507" pitchFamily="18" charset="2"/>
        <a:buChar char="-"/>
        <a:defRPr sz="1400" kern="1200">
          <a:solidFill>
            <a:schemeClr val="tx2"/>
          </a:solidFill>
          <a:latin typeface="Open Sans" panose="020B0606030504020204" pitchFamily="34" charset="0"/>
          <a:ea typeface="+mn-ea"/>
          <a:cs typeface="+mn-cs"/>
        </a:defRPr>
      </a:lvl4pPr>
      <a:lvl5pPr marL="575916" indent="-179362" algn="l" defTabSz="914269" rtl="0" eaLnBrk="1" latinLnBrk="0" hangingPunct="1">
        <a:spcBef>
          <a:spcPts val="300"/>
        </a:spcBef>
        <a:buFont typeface="Symbol" panose="05050102010706020507" pitchFamily="18" charset="2"/>
        <a:buChar char="-"/>
        <a:defRPr sz="1400" kern="1200" baseline="0">
          <a:solidFill>
            <a:schemeClr val="tx2"/>
          </a:solidFill>
          <a:latin typeface="Open Sans" panose="020B0606030504020204" pitchFamily="34" charset="0"/>
          <a:ea typeface="+mn-ea"/>
          <a:cs typeface="+mn-cs"/>
        </a:defRPr>
      </a:lvl5pPr>
      <a:lvl6pPr marL="358723" indent="0" algn="l" defTabSz="914269" rtl="0" eaLnBrk="1" latinLnBrk="0" hangingPunct="1">
        <a:spcBef>
          <a:spcPts val="0"/>
        </a:spcBef>
        <a:buFont typeface="Arial" panose="020B0604020202020204" pitchFamily="34" charset="0"/>
        <a:buNone/>
        <a:defRPr sz="3200" b="1" kern="1200">
          <a:solidFill>
            <a:schemeClr val="bg1"/>
          </a:solidFill>
          <a:latin typeface="+mn-lt"/>
          <a:ea typeface="+mn-ea"/>
          <a:cs typeface="+mn-cs"/>
        </a:defRPr>
      </a:lvl6pPr>
      <a:lvl7pPr marL="358723" indent="0" algn="l" defTabSz="914269" rtl="0" eaLnBrk="1" latinLnBrk="0" hangingPunct="1">
        <a:spcBef>
          <a:spcPts val="0"/>
        </a:spcBef>
        <a:buFont typeface="Arial" panose="020B0604020202020204" pitchFamily="34" charset="0"/>
        <a:buNone/>
        <a:defRPr sz="3200" kern="1200">
          <a:solidFill>
            <a:schemeClr val="bg1"/>
          </a:solidFill>
          <a:latin typeface="+mn-lt"/>
          <a:ea typeface="+mn-ea"/>
          <a:cs typeface="+mn-cs"/>
        </a:defRPr>
      </a:lvl7pPr>
      <a:lvl8pPr marL="3428502"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635" indent="-228566" algn="l" defTabSz="91426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269" rtl="0" eaLnBrk="1" latinLnBrk="0" hangingPunct="1">
        <a:defRPr sz="1800" kern="1200">
          <a:solidFill>
            <a:schemeClr val="tx1"/>
          </a:solidFill>
          <a:latin typeface="+mn-lt"/>
          <a:ea typeface="+mn-ea"/>
          <a:cs typeface="+mn-cs"/>
        </a:defRPr>
      </a:lvl1pPr>
      <a:lvl2pPr marL="457135" algn="l" defTabSz="914269" rtl="0" eaLnBrk="1" latinLnBrk="0" hangingPunct="1">
        <a:defRPr sz="1800" kern="1200">
          <a:solidFill>
            <a:schemeClr val="tx1"/>
          </a:solidFill>
          <a:latin typeface="+mn-lt"/>
          <a:ea typeface="+mn-ea"/>
          <a:cs typeface="+mn-cs"/>
        </a:defRPr>
      </a:lvl2pPr>
      <a:lvl3pPr marL="914269" algn="l" defTabSz="914269" rtl="0" eaLnBrk="1" latinLnBrk="0" hangingPunct="1">
        <a:defRPr sz="1800" kern="1200">
          <a:solidFill>
            <a:schemeClr val="tx1"/>
          </a:solidFill>
          <a:latin typeface="+mn-lt"/>
          <a:ea typeface="+mn-ea"/>
          <a:cs typeface="+mn-cs"/>
        </a:defRPr>
      </a:lvl3pPr>
      <a:lvl4pPr marL="1371402" algn="l" defTabSz="914269" rtl="0" eaLnBrk="1" latinLnBrk="0" hangingPunct="1">
        <a:defRPr sz="1800" kern="1200">
          <a:solidFill>
            <a:schemeClr val="tx1"/>
          </a:solidFill>
          <a:latin typeface="+mn-lt"/>
          <a:ea typeface="+mn-ea"/>
          <a:cs typeface="+mn-cs"/>
        </a:defRPr>
      </a:lvl4pPr>
      <a:lvl5pPr marL="1828534" algn="l" defTabSz="914269" rtl="0" eaLnBrk="1" latinLnBrk="0" hangingPunct="1">
        <a:defRPr sz="1800" kern="1200">
          <a:solidFill>
            <a:schemeClr val="tx1"/>
          </a:solidFill>
          <a:latin typeface="+mn-lt"/>
          <a:ea typeface="+mn-ea"/>
          <a:cs typeface="+mn-cs"/>
        </a:defRPr>
      </a:lvl5pPr>
      <a:lvl6pPr marL="2285670" algn="l" defTabSz="914269" rtl="0" eaLnBrk="1" latinLnBrk="0" hangingPunct="1">
        <a:defRPr sz="1800" kern="1200">
          <a:solidFill>
            <a:schemeClr val="tx1"/>
          </a:solidFill>
          <a:latin typeface="+mn-lt"/>
          <a:ea typeface="+mn-ea"/>
          <a:cs typeface="+mn-cs"/>
        </a:defRPr>
      </a:lvl6pPr>
      <a:lvl7pPr marL="2742803" algn="l" defTabSz="914269" rtl="0" eaLnBrk="1" latinLnBrk="0" hangingPunct="1">
        <a:defRPr sz="1800" kern="1200">
          <a:solidFill>
            <a:schemeClr val="tx1"/>
          </a:solidFill>
          <a:latin typeface="+mn-lt"/>
          <a:ea typeface="+mn-ea"/>
          <a:cs typeface="+mn-cs"/>
        </a:defRPr>
      </a:lvl7pPr>
      <a:lvl8pPr marL="3199936" algn="l" defTabSz="914269" rtl="0" eaLnBrk="1" latinLnBrk="0" hangingPunct="1">
        <a:defRPr sz="1800" kern="1200">
          <a:solidFill>
            <a:schemeClr val="tx1"/>
          </a:solidFill>
          <a:latin typeface="+mn-lt"/>
          <a:ea typeface="+mn-ea"/>
          <a:cs typeface="+mn-cs"/>
        </a:defRPr>
      </a:lvl8pPr>
      <a:lvl9pPr marL="3657070" algn="l" defTabSz="91426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992">
          <p15:clr>
            <a:srgbClr val="F26B43"/>
          </p15:clr>
        </p15:guide>
        <p15:guide id="7" pos="1120">
          <p15:clr>
            <a:srgbClr val="F26B43"/>
          </p15:clr>
        </p15:guide>
        <p15:guide id="8" pos="1676">
          <p15:clr>
            <a:srgbClr val="F26B43"/>
          </p15:clr>
        </p15:guide>
        <p15:guide id="9" pos="1556">
          <p15:clr>
            <a:srgbClr val="F26B43"/>
          </p15:clr>
        </p15:guide>
        <p15:guide id="10" pos="2252">
          <p15:clr>
            <a:srgbClr val="F26B43"/>
          </p15:clr>
        </p15:guide>
        <p15:guide id="11" pos="2128">
          <p15:clr>
            <a:srgbClr val="F26B43"/>
          </p15:clr>
        </p15:guide>
        <p15:guide id="16" pos="3824">
          <p15:clr>
            <a:srgbClr val="F26B43"/>
          </p15:clr>
        </p15:guide>
        <p15:guide id="17" pos="3948">
          <p15:clr>
            <a:srgbClr val="F26B43"/>
          </p15:clr>
        </p15:guide>
        <p15:guide id="20" pos="4384">
          <p15:clr>
            <a:srgbClr val="F26B43"/>
          </p15:clr>
        </p15:guide>
        <p15:guide id="21" pos="4508">
          <p15:clr>
            <a:srgbClr val="F26B43"/>
          </p15:clr>
        </p15:guide>
        <p15:guide id="22" pos="6780">
          <p15:clr>
            <a:srgbClr val="F26B43"/>
          </p15:clr>
        </p15:guide>
        <p15:guide id="23" pos="6656">
          <p15:clr>
            <a:srgbClr val="F26B43"/>
          </p15:clr>
        </p15:guide>
        <p15:guide id="24" pos="4960">
          <p15:clr>
            <a:srgbClr val="F26B43"/>
          </p15:clr>
        </p15:guide>
        <p15:guide id="25" pos="5084">
          <p15:clr>
            <a:srgbClr val="F26B43"/>
          </p15:clr>
        </p15:guide>
        <p15:guide id="30" orient="horz" pos="538">
          <p15:clr>
            <a:srgbClr val="F26B43"/>
          </p15:clr>
        </p15:guide>
        <p15:guide id="31" pos="551">
          <p15:clr>
            <a:srgbClr val="F26B43"/>
          </p15:clr>
        </p15:guide>
        <p15:guide id="39" pos="6092">
          <p15:clr>
            <a:srgbClr val="F26B43"/>
          </p15:clr>
        </p15:guide>
        <p15:guide id="40" pos="6216">
          <p15:clr>
            <a:srgbClr val="F26B43"/>
          </p15:clr>
        </p15:guide>
        <p15:guide id="41" pos="2692">
          <p15:clr>
            <a:srgbClr val="F26B43"/>
          </p15:clr>
        </p15:guide>
        <p15:guide id="42" pos="2808">
          <p15:clr>
            <a:srgbClr val="F26B43"/>
          </p15:clr>
        </p15:guide>
        <p15:guide id="43" pos="3260">
          <p15:clr>
            <a:srgbClr val="F26B43"/>
          </p15:clr>
        </p15:guide>
        <p15:guide id="44" pos="3380">
          <p15:clr>
            <a:srgbClr val="F26B43"/>
          </p15:clr>
        </p15:guide>
        <p15:guide id="50" pos="5520">
          <p15:clr>
            <a:srgbClr val="F26B43"/>
          </p15:clr>
        </p15:guide>
        <p15:guide id="52" orient="horz" pos="933">
          <p15:clr>
            <a:srgbClr val="F26B43"/>
          </p15:clr>
        </p15:guide>
        <p15:guide id="53" orient="horz" pos="759">
          <p15:clr>
            <a:srgbClr val="F26B43"/>
          </p15:clr>
        </p15:guide>
        <p15:guide id="58" orient="horz" pos="218">
          <p15:clr>
            <a:srgbClr val="F26B43"/>
          </p15:clr>
        </p15:guide>
        <p15:guide id="59" orient="horz" pos="3680">
          <p15:clr>
            <a:srgbClr val="F26B43"/>
          </p15:clr>
        </p15:guide>
        <p15:guide id="60" orient="horz" pos="3861">
          <p15:clr>
            <a:srgbClr val="F26B43"/>
          </p15:clr>
        </p15:guide>
        <p15:guide id="62" orient="horz" pos="2130">
          <p15:clr>
            <a:srgbClr val="F26B43"/>
          </p15:clr>
        </p15:guide>
        <p15:guide id="65" pos="5648">
          <p15:clr>
            <a:srgbClr val="F26B43"/>
          </p15:clr>
        </p15:guide>
        <p15:guide id="66" orient="horz" pos="649">
          <p15:clr>
            <a:srgbClr val="F26B43"/>
          </p15:clr>
        </p15:guide>
        <p15:guide id="67" pos="7216">
          <p15:clr>
            <a:srgbClr val="F26B43"/>
          </p15:clr>
        </p15:guide>
        <p15:guide id="69" orient="horz" pos="3988">
          <p15:clr>
            <a:srgbClr val="F26B43"/>
          </p15:clr>
        </p15:guide>
        <p15:guide id="70" orient="horz" pos="4196">
          <p15:clr>
            <a:srgbClr val="F26B43"/>
          </p15:clr>
        </p15:guide>
        <p15:guide id="71" pos="318">
          <p15:clr>
            <a:srgbClr val="F26B43"/>
          </p15:clr>
        </p15:guide>
        <p15:guide id="72" orient="horz" pos="41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3.xml"/><Relationship Id="rId4" Type="http://schemas.openxmlformats.org/officeDocument/2006/relationships/hyperlink" Target="https://github.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hyperlink" Target="https://here.r-lib.org/" TargetMode="External"/><Relationship Id="rId3" Type="http://schemas.openxmlformats.org/officeDocument/2006/relationships/image" Target="../media/image18.png"/><Relationship Id="rId7" Type="http://schemas.openxmlformats.org/officeDocument/2006/relationships/hyperlink" Target="https://rstudio.github.io/renv/articles/renv.html" TargetMode="Externa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hyperlink" Target="https://github.com/crsh/papaja" TargetMode="Externa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0.xml"/><Relationship Id="rId6" Type="http://schemas.openxmlformats.org/officeDocument/2006/relationships/hyperlink" Target="https://code.visualstudio.com/" TargetMode="External"/><Relationship Id="rId5" Type="http://schemas.openxmlformats.org/officeDocument/2006/relationships/hyperlink" Target="https://desktop.github.com/" TargetMode="Externa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alex-strobel/DPP-LabManual/blob/main/Research/Administration/GitHub/GitHub_and_renv_long.md" TargetMode="External"/><Relationship Id="rId3" Type="http://schemas.openxmlformats.org/officeDocument/2006/relationships/hyperlink" Target="https://github.com/git-guides/install-git" TargetMode="External"/><Relationship Id="rId7" Type="http://schemas.openxmlformats.org/officeDocument/2006/relationships/hyperlink" Target="https://github.com/alex-strobel/R-Markdown.git" TargetMode="External"/><Relationship Id="rId12"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hyperlink" Target="https://www.rstudio.com/wp-content/uploads/2015/02/rmarkdown-cheatsheet.pdf" TargetMode="External"/><Relationship Id="rId11" Type="http://schemas.openxmlformats.org/officeDocument/2006/relationships/image" Target="../media/image25.png"/><Relationship Id="rId5" Type="http://schemas.openxmlformats.org/officeDocument/2006/relationships/hyperlink" Target="https://bookdown.org/yihui/bookdown/" TargetMode="External"/><Relationship Id="rId10" Type="http://schemas.openxmlformats.org/officeDocument/2006/relationships/image" Target="../media/image24.png"/><Relationship Id="rId4" Type="http://schemas.openxmlformats.org/officeDocument/2006/relationships/hyperlink" Target="https://happygitwithr.com/install-git.html" TargetMode="External"/><Relationship Id="rId9" Type="http://schemas.openxmlformats.org/officeDocument/2006/relationships/hyperlink" Target="https://github.com/alex-strobel/DPP-LabManual"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creativecommons.org/licenses/by/4.0/"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sz="2800" b="0" dirty="0"/>
              <a:t>R and </a:t>
            </a:r>
            <a:r>
              <a:rPr lang="en-US" sz="2800" b="0" dirty="0" err="1"/>
              <a:t>RMarkdown</a:t>
            </a:r>
            <a:br>
              <a:rPr lang="en-US" sz="2800" dirty="0"/>
            </a:br>
            <a:br>
              <a:rPr lang="en-US" sz="2800" dirty="0"/>
            </a:br>
            <a:r>
              <a:rPr lang="en-US" sz="2800" b="0" dirty="0"/>
              <a:t>Outro</a:t>
            </a:r>
            <a:br>
              <a:rPr lang="en-US" sz="2800" b="0" dirty="0"/>
            </a:br>
            <a:r>
              <a:rPr lang="en-US" sz="2800" b="0" dirty="0"/>
              <a:t>Workflow with GitHub</a:t>
            </a:r>
            <a:br>
              <a:rPr lang="de-DE" b="0" dirty="0"/>
            </a:br>
            <a:endParaRPr lang="de-DE" b="0" dirty="0"/>
          </a:p>
        </p:txBody>
      </p:sp>
    </p:spTree>
    <p:extLst>
      <p:ext uri="{BB962C8B-B14F-4D97-AF65-F5344CB8AC3E}">
        <p14:creationId xmlns:p14="http://schemas.microsoft.com/office/powerpoint/2010/main" val="2324238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R Markdown</a:t>
            </a:r>
            <a:br>
              <a:rPr lang="en-US"/>
            </a:br>
            <a:r>
              <a:rPr lang="en-US" b="0"/>
              <a:t>One problem</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5193865" cy="4344987"/>
          </a:xfrm>
        </p:spPr>
        <p:txBody>
          <a:bodyPr/>
          <a:lstStyle/>
          <a:p>
            <a:pPr>
              <a:spcBef>
                <a:spcPts val="600"/>
              </a:spcBef>
            </a:pPr>
            <a:r>
              <a:rPr lang="en-US" altLang="x-none" sz="1800" b="1">
                <a:latin typeface="Open Sans" charset="0"/>
                <a:ea typeface="Open Sans" charset="0"/>
                <a:cs typeface="Open Sans" charset="0"/>
              </a:rPr>
              <a:t>One problem ...</a:t>
            </a:r>
          </a:p>
          <a:p>
            <a:pPr>
              <a:spcBef>
                <a:spcPts val="600"/>
              </a:spcBef>
            </a:pPr>
            <a:r>
              <a:rPr lang="en-US" altLang="x-none" sz="1800">
                <a:latin typeface="Open Sans" charset="0"/>
                <a:ea typeface="Open Sans" charset="0"/>
                <a:cs typeface="Open Sans" charset="0"/>
              </a:rPr>
              <a:t>with R Markdown is that one cannot as easily revise or comment on documents as in Word</a:t>
            </a:r>
          </a:p>
          <a:p>
            <a:pPr>
              <a:spcBef>
                <a:spcPts val="0"/>
              </a:spcBef>
            </a:pPr>
            <a:endParaRPr lang="en-US" altLang="de-DE" sz="1200">
              <a:solidFill>
                <a:schemeClr val="accent1"/>
              </a:solidFill>
              <a:latin typeface="Roboto Mono" pitchFamily="2" charset="0"/>
              <a:ea typeface="Roboto Mono" pitchFamily="2" charset="0"/>
              <a:cs typeface="Open Sans Normal" charset="0"/>
            </a:endParaRPr>
          </a:p>
        </p:txBody>
      </p:sp>
      <p:pic>
        <p:nvPicPr>
          <p:cNvPr id="8" name="Grafik 7">
            <a:extLst>
              <a:ext uri="{FF2B5EF4-FFF2-40B4-BE49-F238E27FC236}">
                <a16:creationId xmlns:a16="http://schemas.microsoft.com/office/drawing/2014/main" id="{B653A772-86A9-8847-9F77-8BDB8A681000}"/>
              </a:ext>
            </a:extLst>
          </p:cNvPr>
          <p:cNvPicPr>
            <a:picLocks noChangeAspect="1"/>
          </p:cNvPicPr>
          <p:nvPr/>
        </p:nvPicPr>
        <p:blipFill>
          <a:blip r:embed="rId3"/>
          <a:stretch>
            <a:fillRect/>
          </a:stretch>
        </p:blipFill>
        <p:spPr>
          <a:xfrm>
            <a:off x="888840" y="2771300"/>
            <a:ext cx="5208563" cy="3096000"/>
          </a:xfrm>
          <a:prstGeom prst="rect">
            <a:avLst/>
          </a:prstGeom>
        </p:spPr>
      </p:pic>
      <p:cxnSp>
        <p:nvCxnSpPr>
          <p:cNvPr id="5" name="Gerade Verbindung mit Pfeil 4">
            <a:extLst>
              <a:ext uri="{FF2B5EF4-FFF2-40B4-BE49-F238E27FC236}">
                <a16:creationId xmlns:a16="http://schemas.microsoft.com/office/drawing/2014/main" id="{116A2857-FAA5-804C-AE66-F9B7DE7803FE}"/>
              </a:ext>
            </a:extLst>
          </p:cNvPr>
          <p:cNvCxnSpPr/>
          <p:nvPr/>
        </p:nvCxnSpPr>
        <p:spPr>
          <a:xfrm flipH="1">
            <a:off x="3651115" y="3274979"/>
            <a:ext cx="3308485" cy="0"/>
          </a:xfrm>
          <a:prstGeom prst="straightConnector1">
            <a:avLst/>
          </a:prstGeom>
          <a:ln w="127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A33499A1-4102-1244-9584-590B332E4DE7}"/>
              </a:ext>
            </a:extLst>
          </p:cNvPr>
          <p:cNvCxnSpPr>
            <a:cxnSpLocks/>
          </p:cNvCxnSpPr>
          <p:nvPr/>
        </p:nvCxnSpPr>
        <p:spPr>
          <a:xfrm flipH="1">
            <a:off x="5937115" y="5632315"/>
            <a:ext cx="1022485" cy="0"/>
          </a:xfrm>
          <a:prstGeom prst="straightConnector1">
            <a:avLst/>
          </a:prstGeom>
          <a:ln w="127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8E5EAD0F-AB8A-4F40-B3D2-104686CD0352}"/>
              </a:ext>
            </a:extLst>
          </p:cNvPr>
          <p:cNvSpPr txBox="1"/>
          <p:nvPr/>
        </p:nvSpPr>
        <p:spPr>
          <a:xfrm>
            <a:off x="6959600" y="2982591"/>
            <a:ext cx="4357688" cy="584775"/>
          </a:xfrm>
          <a:prstGeom prst="rect">
            <a:avLst/>
          </a:prstGeom>
          <a:noFill/>
        </p:spPr>
        <p:txBody>
          <a:bodyPr wrap="square" rtlCol="0">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Here, you want to add a reference to Simmons, Nelson, &amp; Simonsohn (2012)</a:t>
            </a:r>
          </a:p>
        </p:txBody>
      </p:sp>
      <p:sp>
        <p:nvSpPr>
          <p:cNvPr id="15" name="Textfeld 14">
            <a:extLst>
              <a:ext uri="{FF2B5EF4-FFF2-40B4-BE49-F238E27FC236}">
                <a16:creationId xmlns:a16="http://schemas.microsoft.com/office/drawing/2014/main" id="{5B2D90CE-4AA1-884E-A1CB-516BD41127DA}"/>
              </a:ext>
            </a:extLst>
          </p:cNvPr>
          <p:cNvSpPr txBox="1"/>
          <p:nvPr/>
        </p:nvSpPr>
        <p:spPr>
          <a:xfrm>
            <a:off x="6958441" y="5339927"/>
            <a:ext cx="4675839" cy="584775"/>
          </a:xfrm>
          <a:prstGeom prst="rect">
            <a:avLst/>
          </a:prstGeom>
          <a:noFill/>
        </p:spPr>
        <p:txBody>
          <a:bodyPr wrap="square" rtlCol="0">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Here, you want state that according to APA, correlations are printed without leading zeroes</a:t>
            </a:r>
          </a:p>
        </p:txBody>
      </p:sp>
    </p:spTree>
    <p:custDataLst>
      <p:tags r:id="rId1"/>
    </p:custDataLst>
    <p:extLst>
      <p:ext uri="{BB962C8B-B14F-4D97-AF65-F5344CB8AC3E}">
        <p14:creationId xmlns:p14="http://schemas.microsoft.com/office/powerpoint/2010/main" val="3686156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R Markdown</a:t>
            </a:r>
            <a:br>
              <a:rPr lang="en-US"/>
            </a:br>
            <a:r>
              <a:rPr lang="en-US" b="0"/>
              <a:t>One solution</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5193865" cy="4344987"/>
          </a:xfrm>
        </p:spPr>
        <p:txBody>
          <a:bodyPr/>
          <a:lstStyle/>
          <a:p>
            <a:pPr>
              <a:spcBef>
                <a:spcPts val="600"/>
              </a:spcBef>
            </a:pPr>
            <a:r>
              <a:rPr lang="en-US" altLang="x-none" sz="1800" b="1">
                <a:latin typeface="Open Sans" charset="0"/>
                <a:ea typeface="Open Sans" charset="0"/>
                <a:cs typeface="Open Sans" charset="0"/>
              </a:rPr>
              <a:t>One solution ...</a:t>
            </a:r>
          </a:p>
          <a:p>
            <a:pPr>
              <a:spcBef>
                <a:spcPts val="600"/>
              </a:spcBef>
            </a:pPr>
            <a:r>
              <a:rPr lang="en-US" altLang="x-none" sz="1800">
                <a:latin typeface="Open Sans" charset="0"/>
                <a:ea typeface="Open Sans" charset="0"/>
                <a:cs typeface="Open Sans" charset="0"/>
              </a:rPr>
              <a:t>is GitHub, you have version control and can revise documents (and comment on revisions) without permanently changing the document</a:t>
            </a:r>
          </a:p>
          <a:p>
            <a:pPr>
              <a:spcBef>
                <a:spcPts val="0"/>
              </a:spcBef>
            </a:pPr>
            <a:endParaRPr lang="en-US" altLang="de-DE" sz="1200">
              <a:solidFill>
                <a:schemeClr val="accent1"/>
              </a:solidFill>
              <a:latin typeface="Roboto Mono" pitchFamily="2" charset="0"/>
              <a:ea typeface="Roboto Mono" pitchFamily="2" charset="0"/>
              <a:cs typeface="Open Sans Normal" charset="0"/>
            </a:endParaRPr>
          </a:p>
        </p:txBody>
      </p:sp>
      <p:cxnSp>
        <p:nvCxnSpPr>
          <p:cNvPr id="5" name="Gerade Verbindung mit Pfeil 4">
            <a:extLst>
              <a:ext uri="{FF2B5EF4-FFF2-40B4-BE49-F238E27FC236}">
                <a16:creationId xmlns:a16="http://schemas.microsoft.com/office/drawing/2014/main" id="{116A2857-FAA5-804C-AE66-F9B7DE7803FE}"/>
              </a:ext>
            </a:extLst>
          </p:cNvPr>
          <p:cNvCxnSpPr>
            <a:cxnSpLocks/>
          </p:cNvCxnSpPr>
          <p:nvPr/>
        </p:nvCxnSpPr>
        <p:spPr>
          <a:xfrm flipH="1">
            <a:off x="5888477" y="3274979"/>
            <a:ext cx="1071123" cy="0"/>
          </a:xfrm>
          <a:prstGeom prst="straightConnector1">
            <a:avLst/>
          </a:prstGeom>
          <a:ln w="127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8E5EAD0F-AB8A-4F40-B3D2-104686CD0352}"/>
              </a:ext>
            </a:extLst>
          </p:cNvPr>
          <p:cNvSpPr txBox="1"/>
          <p:nvPr/>
        </p:nvSpPr>
        <p:spPr>
          <a:xfrm>
            <a:off x="6959600" y="2846406"/>
            <a:ext cx="4357688" cy="830997"/>
          </a:xfrm>
          <a:prstGeom prst="rect">
            <a:avLst/>
          </a:prstGeom>
          <a:noFill/>
        </p:spPr>
        <p:txBody>
          <a:bodyPr wrap="square" rtlCol="0">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Here, you add a reference to Simmons, Nelson, &amp; Simonsohn (2012), and the change is highlighted in GitHub Desktop</a:t>
            </a:r>
          </a:p>
        </p:txBody>
      </p:sp>
      <p:sp>
        <p:nvSpPr>
          <p:cNvPr id="15" name="Textfeld 14">
            <a:extLst>
              <a:ext uri="{FF2B5EF4-FFF2-40B4-BE49-F238E27FC236}">
                <a16:creationId xmlns:a16="http://schemas.microsoft.com/office/drawing/2014/main" id="{5B2D90CE-4AA1-884E-A1CB-516BD41127DA}"/>
              </a:ext>
            </a:extLst>
          </p:cNvPr>
          <p:cNvSpPr txBox="1"/>
          <p:nvPr/>
        </p:nvSpPr>
        <p:spPr>
          <a:xfrm>
            <a:off x="6958441" y="5456657"/>
            <a:ext cx="4675839" cy="338554"/>
          </a:xfrm>
          <a:prstGeom prst="rect">
            <a:avLst/>
          </a:prstGeom>
          <a:noFill/>
        </p:spPr>
        <p:txBody>
          <a:bodyPr wrap="square" rtlCol="0">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Here, you comment on your revision.</a:t>
            </a:r>
          </a:p>
        </p:txBody>
      </p:sp>
      <p:pic>
        <p:nvPicPr>
          <p:cNvPr id="2" name="Grafik 1">
            <a:extLst>
              <a:ext uri="{FF2B5EF4-FFF2-40B4-BE49-F238E27FC236}">
                <a16:creationId xmlns:a16="http://schemas.microsoft.com/office/drawing/2014/main" id="{7739767E-1B4B-5549-9BDB-535EFEAD9D85}"/>
              </a:ext>
            </a:extLst>
          </p:cNvPr>
          <p:cNvPicPr>
            <a:picLocks noChangeAspect="1"/>
          </p:cNvPicPr>
          <p:nvPr/>
        </p:nvPicPr>
        <p:blipFill>
          <a:blip r:embed="rId3"/>
          <a:stretch>
            <a:fillRect/>
          </a:stretch>
        </p:blipFill>
        <p:spPr>
          <a:xfrm>
            <a:off x="874712" y="2746442"/>
            <a:ext cx="4916487" cy="3145046"/>
          </a:xfrm>
          <a:prstGeom prst="rect">
            <a:avLst/>
          </a:prstGeom>
        </p:spPr>
      </p:pic>
      <p:cxnSp>
        <p:nvCxnSpPr>
          <p:cNvPr id="12" name="Gerade Verbindung mit Pfeil 11">
            <a:extLst>
              <a:ext uri="{FF2B5EF4-FFF2-40B4-BE49-F238E27FC236}">
                <a16:creationId xmlns:a16="http://schemas.microsoft.com/office/drawing/2014/main" id="{A33499A1-4102-1244-9584-590B332E4DE7}"/>
              </a:ext>
            </a:extLst>
          </p:cNvPr>
          <p:cNvCxnSpPr>
            <a:cxnSpLocks/>
          </p:cNvCxnSpPr>
          <p:nvPr/>
        </p:nvCxnSpPr>
        <p:spPr>
          <a:xfrm flipH="1">
            <a:off x="2243847" y="5632315"/>
            <a:ext cx="4715753" cy="0"/>
          </a:xfrm>
          <a:prstGeom prst="straightConnector1">
            <a:avLst/>
          </a:prstGeom>
          <a:ln w="127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0887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R Markdown</a:t>
            </a:r>
            <a:br>
              <a:rPr lang="en-US"/>
            </a:br>
            <a:r>
              <a:rPr lang="en-US" b="0"/>
              <a:t>One solution</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5193865" cy="4344987"/>
          </a:xfrm>
        </p:spPr>
        <p:txBody>
          <a:bodyPr/>
          <a:lstStyle/>
          <a:p>
            <a:pPr>
              <a:spcBef>
                <a:spcPts val="600"/>
              </a:spcBef>
            </a:pPr>
            <a:r>
              <a:rPr lang="en-US" altLang="x-none" sz="1800" b="1">
                <a:latin typeface="Open Sans" charset="0"/>
                <a:ea typeface="Open Sans" charset="0"/>
                <a:cs typeface="Open Sans" charset="0"/>
              </a:rPr>
              <a:t>One solution ...</a:t>
            </a:r>
          </a:p>
          <a:p>
            <a:pPr>
              <a:spcBef>
                <a:spcPts val="600"/>
              </a:spcBef>
            </a:pPr>
            <a:r>
              <a:rPr lang="en-US" altLang="x-none" sz="1800">
                <a:latin typeface="Open Sans" charset="0"/>
                <a:ea typeface="Open Sans" charset="0"/>
                <a:cs typeface="Open Sans" charset="0"/>
              </a:rPr>
              <a:t>is GitHub, you have version control and can revise documents (and comment on revisions) without permanently changing the document</a:t>
            </a:r>
          </a:p>
          <a:p>
            <a:pPr>
              <a:spcBef>
                <a:spcPts val="0"/>
              </a:spcBef>
            </a:pPr>
            <a:endParaRPr lang="en-US" altLang="de-DE" sz="1200">
              <a:solidFill>
                <a:schemeClr val="accent1"/>
              </a:solidFill>
              <a:latin typeface="Roboto Mono" pitchFamily="2" charset="0"/>
              <a:ea typeface="Roboto Mono" pitchFamily="2" charset="0"/>
              <a:cs typeface="Open Sans Normal" charset="0"/>
            </a:endParaRPr>
          </a:p>
        </p:txBody>
      </p:sp>
      <p:cxnSp>
        <p:nvCxnSpPr>
          <p:cNvPr id="5" name="Gerade Verbindung mit Pfeil 4">
            <a:extLst>
              <a:ext uri="{FF2B5EF4-FFF2-40B4-BE49-F238E27FC236}">
                <a16:creationId xmlns:a16="http://schemas.microsoft.com/office/drawing/2014/main" id="{116A2857-FAA5-804C-AE66-F9B7DE7803FE}"/>
              </a:ext>
            </a:extLst>
          </p:cNvPr>
          <p:cNvCxnSpPr>
            <a:cxnSpLocks/>
          </p:cNvCxnSpPr>
          <p:nvPr/>
        </p:nvCxnSpPr>
        <p:spPr>
          <a:xfrm flipH="1">
            <a:off x="5888477" y="3274979"/>
            <a:ext cx="1071123" cy="0"/>
          </a:xfrm>
          <a:prstGeom prst="straightConnector1">
            <a:avLst/>
          </a:prstGeom>
          <a:ln w="127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8E5EAD0F-AB8A-4F40-B3D2-104686CD0352}"/>
              </a:ext>
            </a:extLst>
          </p:cNvPr>
          <p:cNvSpPr txBox="1"/>
          <p:nvPr/>
        </p:nvSpPr>
        <p:spPr>
          <a:xfrm>
            <a:off x="6959600" y="3099322"/>
            <a:ext cx="4357688" cy="338554"/>
          </a:xfrm>
          <a:prstGeom prst="rect">
            <a:avLst/>
          </a:prstGeom>
          <a:noFill/>
        </p:spPr>
        <p:txBody>
          <a:bodyPr wrap="square" rtlCol="0">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Here, you change some R code.</a:t>
            </a:r>
          </a:p>
        </p:txBody>
      </p:sp>
      <p:sp>
        <p:nvSpPr>
          <p:cNvPr id="15" name="Textfeld 14">
            <a:extLst>
              <a:ext uri="{FF2B5EF4-FFF2-40B4-BE49-F238E27FC236}">
                <a16:creationId xmlns:a16="http://schemas.microsoft.com/office/drawing/2014/main" id="{5B2D90CE-4AA1-884E-A1CB-516BD41127DA}"/>
              </a:ext>
            </a:extLst>
          </p:cNvPr>
          <p:cNvSpPr txBox="1"/>
          <p:nvPr/>
        </p:nvSpPr>
        <p:spPr>
          <a:xfrm>
            <a:off x="6958441" y="5456657"/>
            <a:ext cx="4675839" cy="338554"/>
          </a:xfrm>
          <a:prstGeom prst="rect">
            <a:avLst/>
          </a:prstGeom>
          <a:noFill/>
        </p:spPr>
        <p:txBody>
          <a:bodyPr wrap="square" rtlCol="0">
            <a:spAutoFit/>
          </a:bodyPr>
          <a:lstStyle/>
          <a:p>
            <a:r>
              <a:rPr lang="en-US" sz="1600">
                <a:latin typeface="Open Sans" panose="020B0606030504020204" pitchFamily="34" charset="0"/>
                <a:ea typeface="Open Sans" panose="020B0606030504020204" pitchFamily="34" charset="0"/>
                <a:cs typeface="Open Sans" panose="020B0606030504020204" pitchFamily="34" charset="0"/>
              </a:rPr>
              <a:t>Here, you comment on your revision.</a:t>
            </a:r>
          </a:p>
        </p:txBody>
      </p:sp>
      <p:pic>
        <p:nvPicPr>
          <p:cNvPr id="13" name="Grafik 12">
            <a:extLst>
              <a:ext uri="{FF2B5EF4-FFF2-40B4-BE49-F238E27FC236}">
                <a16:creationId xmlns:a16="http://schemas.microsoft.com/office/drawing/2014/main" id="{299EB6E9-61EA-464F-87C0-58098516B469}"/>
              </a:ext>
            </a:extLst>
          </p:cNvPr>
          <p:cNvPicPr>
            <a:picLocks noChangeAspect="1"/>
          </p:cNvPicPr>
          <p:nvPr/>
        </p:nvPicPr>
        <p:blipFill>
          <a:blip r:embed="rId3"/>
          <a:stretch>
            <a:fillRect/>
          </a:stretch>
        </p:blipFill>
        <p:spPr>
          <a:xfrm>
            <a:off x="861742" y="2739957"/>
            <a:ext cx="4916486" cy="3145046"/>
          </a:xfrm>
          <a:prstGeom prst="rect">
            <a:avLst/>
          </a:prstGeom>
        </p:spPr>
      </p:pic>
      <p:grpSp>
        <p:nvGrpSpPr>
          <p:cNvPr id="8" name="Gruppieren 7">
            <a:extLst>
              <a:ext uri="{FF2B5EF4-FFF2-40B4-BE49-F238E27FC236}">
                <a16:creationId xmlns:a16="http://schemas.microsoft.com/office/drawing/2014/main" id="{79E379A4-251D-4C4B-A827-76AF15179F50}"/>
              </a:ext>
            </a:extLst>
          </p:cNvPr>
          <p:cNvGrpSpPr/>
          <p:nvPr/>
        </p:nvGrpSpPr>
        <p:grpSpPr>
          <a:xfrm>
            <a:off x="3167975" y="3479075"/>
            <a:ext cx="8149313" cy="1200329"/>
            <a:chOff x="3167975" y="3479075"/>
            <a:chExt cx="8149313" cy="1200329"/>
          </a:xfrm>
        </p:grpSpPr>
        <p:sp>
          <p:nvSpPr>
            <p:cNvPr id="14" name="Textfeld 13">
              <a:extLst>
                <a:ext uri="{FF2B5EF4-FFF2-40B4-BE49-F238E27FC236}">
                  <a16:creationId xmlns:a16="http://schemas.microsoft.com/office/drawing/2014/main" id="{CD9E45A4-D2BD-B941-8642-9C323B5BC086}"/>
                </a:ext>
              </a:extLst>
            </p:cNvPr>
            <p:cNvSpPr txBox="1"/>
            <p:nvPr/>
          </p:nvSpPr>
          <p:spPr>
            <a:xfrm>
              <a:off x="6959600" y="3479075"/>
              <a:ext cx="4357688" cy="1200329"/>
            </a:xfrm>
            <a:prstGeom prst="rect">
              <a:avLst/>
            </a:prstGeom>
            <a:noFill/>
          </p:spPr>
          <p:txBody>
            <a:bodyPr wrap="square" rtlCol="0">
              <a:spAutoFit/>
            </a:bodyPr>
            <a:lstStyle/>
            <a:p>
              <a:r>
                <a:rPr lang="en-US" sz="12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And here, you made a coding error, i.e., a missing closing parenthesis, but nevermind: this will stop the document compilation, you will get an error message (although not an informative one most of the time), but you can be assured that the code must work before a document will be compiled.</a:t>
              </a:r>
            </a:p>
          </p:txBody>
        </p:sp>
        <p:cxnSp>
          <p:nvCxnSpPr>
            <p:cNvPr id="16" name="Gerade Verbindung mit Pfeil 15">
              <a:extLst>
                <a:ext uri="{FF2B5EF4-FFF2-40B4-BE49-F238E27FC236}">
                  <a16:creationId xmlns:a16="http://schemas.microsoft.com/office/drawing/2014/main" id="{09B87DAF-2448-1C4A-B891-077E84C56CB2}"/>
                </a:ext>
              </a:extLst>
            </p:cNvPr>
            <p:cNvCxnSpPr>
              <a:cxnSpLocks/>
            </p:cNvCxnSpPr>
            <p:nvPr/>
          </p:nvCxnSpPr>
          <p:spPr>
            <a:xfrm flipH="1" flipV="1">
              <a:off x="3167975" y="3902150"/>
              <a:ext cx="3790466" cy="0"/>
            </a:xfrm>
            <a:prstGeom prst="straightConnector1">
              <a:avLst/>
            </a:prstGeom>
            <a:ln w="127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12" name="Gerade Verbindung mit Pfeil 11">
            <a:extLst>
              <a:ext uri="{FF2B5EF4-FFF2-40B4-BE49-F238E27FC236}">
                <a16:creationId xmlns:a16="http://schemas.microsoft.com/office/drawing/2014/main" id="{A33499A1-4102-1244-9584-590B332E4DE7}"/>
              </a:ext>
            </a:extLst>
          </p:cNvPr>
          <p:cNvCxnSpPr>
            <a:cxnSpLocks/>
          </p:cNvCxnSpPr>
          <p:nvPr/>
        </p:nvCxnSpPr>
        <p:spPr>
          <a:xfrm flipH="1">
            <a:off x="2243847" y="5632315"/>
            <a:ext cx="4715753" cy="0"/>
          </a:xfrm>
          <a:prstGeom prst="straightConnector1">
            <a:avLst/>
          </a:prstGeom>
          <a:ln w="127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Rechteck 16">
            <a:extLst>
              <a:ext uri="{FF2B5EF4-FFF2-40B4-BE49-F238E27FC236}">
                <a16:creationId xmlns:a16="http://schemas.microsoft.com/office/drawing/2014/main" id="{F8D8E7B0-A582-9B8E-CEBE-A1FBA61F2AE9}"/>
              </a:ext>
            </a:extLst>
          </p:cNvPr>
          <p:cNvSpPr/>
          <p:nvPr/>
        </p:nvSpPr>
        <p:spPr>
          <a:xfrm>
            <a:off x="0" y="6131169"/>
            <a:ext cx="12192000" cy="7268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lumMod val="50000"/>
                  </a:schemeClr>
                </a:solidFill>
                <a:hlinkClick r:id="rId4"/>
              </a:rPr>
              <a:t>https://github.com</a:t>
            </a:r>
            <a:endParaRPr lang="en-US" sz="1600" dirty="0">
              <a:solidFill>
                <a:schemeClr val="bg1">
                  <a:lumMod val="50000"/>
                </a:schemeClr>
              </a:solidFill>
            </a:endParaRPr>
          </a:p>
        </p:txBody>
      </p:sp>
    </p:spTree>
    <p:custDataLst>
      <p:tags r:id="rId1"/>
    </p:custDataLst>
    <p:extLst>
      <p:ext uri="{BB962C8B-B14F-4D97-AF65-F5344CB8AC3E}">
        <p14:creationId xmlns:p14="http://schemas.microsoft.com/office/powerpoint/2010/main" val="481089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GitHub</a:t>
            </a:r>
            <a:br>
              <a:rPr lang="en-US"/>
            </a:br>
            <a:endParaRPr lang="en-US" b="0"/>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5392738" cy="4344987"/>
          </a:xfrm>
        </p:spPr>
        <p:txBody>
          <a:bodyPr/>
          <a:lstStyle/>
          <a:p>
            <a:pPr>
              <a:spcBef>
                <a:spcPts val="600"/>
              </a:spcBef>
            </a:pPr>
            <a:r>
              <a:rPr lang="en-US" altLang="x-none" sz="1800" b="1">
                <a:latin typeface="Open Sans" charset="0"/>
                <a:ea typeface="Open Sans" charset="0"/>
                <a:cs typeface="Open Sans" charset="0"/>
              </a:rPr>
              <a:t>GitHub</a:t>
            </a:r>
          </a:p>
          <a:p>
            <a:pPr>
              <a:spcBef>
                <a:spcPts val="1100"/>
              </a:spcBef>
            </a:pPr>
            <a:r>
              <a:rPr lang="en-US"/>
              <a:t>in case of R Markdown files, a group drive/sharepoint is of limited value, because if something changes, it may not be easy to keep track of these changes</a:t>
            </a:r>
          </a:p>
          <a:p>
            <a:pPr>
              <a:spcBef>
                <a:spcPts val="1100"/>
              </a:spcBef>
            </a:pPr>
            <a:r>
              <a:rPr lang="en-US"/>
              <a:t>also, if some change eventually results in a dead end, you may want to go back to a previous point in the "timeline" of your project</a:t>
            </a:r>
          </a:p>
          <a:p>
            <a:pPr>
              <a:spcBef>
                <a:spcPts val="1100"/>
              </a:spcBef>
            </a:pPr>
            <a:r>
              <a:rPr lang="en-US"/>
              <a:t>here, version control is really helpful, and GitHub enables it (in fact, it has been </a:t>
            </a:r>
            <a:r>
              <a:rPr lang="en-US" i="1"/>
              <a:t>made</a:t>
            </a:r>
            <a:r>
              <a:rPr lang="en-US"/>
              <a:t> for it, among others)</a:t>
            </a:r>
          </a:p>
          <a:p>
            <a:pPr>
              <a:spcBef>
                <a:spcPts val="1100"/>
              </a:spcBef>
            </a:pPr>
            <a:r>
              <a:rPr lang="en-US"/>
              <a:t>the above examples showcase how revisions and comments can be implemented</a:t>
            </a:r>
          </a:p>
          <a:p>
            <a:pPr>
              <a:spcBef>
                <a:spcPts val="1100"/>
              </a:spcBef>
            </a:pPr>
            <a:r>
              <a:rPr lang="en-US" altLang="x-none">
                <a:latin typeface="Open Sans" charset="0"/>
                <a:ea typeface="Open Sans" charset="0"/>
                <a:cs typeface="Open Sans" charset="0"/>
              </a:rPr>
              <a:t>comes with great features apart from code organization such as </a:t>
            </a:r>
            <a:r>
              <a:rPr lang="en-US" altLang="x-none" i="1">
                <a:latin typeface="Open Sans" charset="0"/>
                <a:ea typeface="Open Sans" charset="0"/>
                <a:cs typeface="Open Sans" charset="0"/>
              </a:rPr>
              <a:t>Issues</a:t>
            </a:r>
            <a:r>
              <a:rPr lang="en-US" altLang="x-none">
                <a:latin typeface="Open Sans" charset="0"/>
                <a:ea typeface="Open Sans" charset="0"/>
                <a:cs typeface="Open Sans" charset="0"/>
              </a:rPr>
              <a:t> and </a:t>
            </a:r>
            <a:r>
              <a:rPr lang="en-US" altLang="x-none" i="1">
                <a:latin typeface="Open Sans" charset="0"/>
                <a:ea typeface="Open Sans" charset="0"/>
                <a:cs typeface="Open Sans" charset="0"/>
              </a:rPr>
              <a:t>Projects </a:t>
            </a:r>
            <a:r>
              <a:rPr lang="en-US" altLang="x-none">
                <a:latin typeface="Open Sans" charset="0"/>
                <a:ea typeface="Open Sans" charset="0"/>
                <a:cs typeface="Open Sans" charset="0"/>
              </a:rPr>
              <a:t>or a </a:t>
            </a:r>
            <a:r>
              <a:rPr lang="en-US" altLang="x-none" i="1">
                <a:latin typeface="Open Sans" charset="0"/>
                <a:ea typeface="Open Sans" charset="0"/>
                <a:cs typeface="Open Sans" charset="0"/>
              </a:rPr>
              <a:t>Wiki</a:t>
            </a:r>
            <a:endParaRPr lang="en-US" altLang="x-none" sz="1800">
              <a:latin typeface="Open Sans" charset="0"/>
              <a:ea typeface="Open Sans" charset="0"/>
              <a:cs typeface="Open Sans" charset="0"/>
            </a:endParaRPr>
          </a:p>
          <a:p>
            <a:pPr>
              <a:spcBef>
                <a:spcPts val="0"/>
              </a:spcBef>
            </a:pPr>
            <a:endParaRPr lang="en-US" altLang="de-DE" sz="1200">
              <a:solidFill>
                <a:schemeClr val="accent1"/>
              </a:solidFill>
              <a:latin typeface="Roboto Mono" pitchFamily="2" charset="0"/>
              <a:ea typeface="Roboto Mono" pitchFamily="2" charset="0"/>
              <a:cs typeface="Open Sans Normal" charset="0"/>
            </a:endParaRPr>
          </a:p>
        </p:txBody>
      </p:sp>
      <p:pic>
        <p:nvPicPr>
          <p:cNvPr id="5" name="Grafik 4">
            <a:extLst>
              <a:ext uri="{FF2B5EF4-FFF2-40B4-BE49-F238E27FC236}">
                <a16:creationId xmlns:a16="http://schemas.microsoft.com/office/drawing/2014/main" id="{D80BBCDC-E1CA-D50F-BFBA-9FA66889F816}"/>
              </a:ext>
            </a:extLst>
          </p:cNvPr>
          <p:cNvPicPr>
            <a:picLocks noChangeAspect="1"/>
          </p:cNvPicPr>
          <p:nvPr/>
        </p:nvPicPr>
        <p:blipFill>
          <a:blip r:embed="rId3"/>
          <a:stretch>
            <a:fillRect/>
          </a:stretch>
        </p:blipFill>
        <p:spPr>
          <a:xfrm>
            <a:off x="6280841" y="1899634"/>
            <a:ext cx="5181350" cy="3474053"/>
          </a:xfrm>
          <a:prstGeom prst="rect">
            <a:avLst/>
          </a:prstGeom>
        </p:spPr>
      </p:pic>
    </p:spTree>
    <p:custDataLst>
      <p:tags r:id="rId1"/>
    </p:custDataLst>
    <p:extLst>
      <p:ext uri="{BB962C8B-B14F-4D97-AF65-F5344CB8AC3E}">
        <p14:creationId xmlns:p14="http://schemas.microsoft.com/office/powerpoint/2010/main" val="297222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GitHub</a:t>
            </a:r>
            <a:br>
              <a:rPr lang="en-US"/>
            </a:br>
            <a:r>
              <a:rPr lang="en-US" b="0"/>
              <a:t>Basics</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5392738" cy="4344987"/>
          </a:xfrm>
        </p:spPr>
        <p:txBody>
          <a:bodyPr/>
          <a:lstStyle/>
          <a:p>
            <a:pPr>
              <a:spcBef>
                <a:spcPts val="600"/>
              </a:spcBef>
            </a:pPr>
            <a:r>
              <a:rPr lang="en-US" altLang="x-none" sz="1800" b="1">
                <a:latin typeface="Open Sans" charset="0"/>
                <a:ea typeface="Open Sans" charset="0"/>
                <a:cs typeface="Open Sans" charset="0"/>
              </a:rPr>
              <a:t>GitHub Basics</a:t>
            </a:r>
          </a:p>
          <a:p>
            <a:pPr>
              <a:spcBef>
                <a:spcPts val="1100"/>
              </a:spcBef>
            </a:pPr>
            <a:r>
              <a:rPr lang="en-US"/>
              <a:t>GitHub is great for working together on code (in the broadest sense)</a:t>
            </a:r>
          </a:p>
          <a:p>
            <a:pPr>
              <a:spcBef>
                <a:spcPts val="1100"/>
              </a:spcBef>
            </a:pPr>
            <a:r>
              <a:rPr lang="en-US"/>
              <a:t>comes with version control, so that if something went wrong, you go back in the project timeline, so there is no need for having multiple files to monitor project progress such as </a:t>
            </a:r>
            <a:r>
              <a:rPr lang="en-US" i="1"/>
              <a:t>Project_final.docx, Project_final2.docx </a:t>
            </a:r>
            <a:r>
              <a:rPr lang="en-US"/>
              <a:t>etc. in order to be able to return to earlier project stages</a:t>
            </a:r>
          </a:p>
          <a:p>
            <a:pPr>
              <a:spcBef>
                <a:spcPts val="1100"/>
              </a:spcBef>
            </a:pPr>
            <a:r>
              <a:rPr lang="en-US"/>
              <a:t>also allows for parallel working on projects on different project branches that are merged in the end, which is especially helpful when working with several co-authors, so no need to integrate multiple word documents</a:t>
            </a:r>
          </a:p>
          <a:p>
            <a:pPr>
              <a:spcBef>
                <a:spcPts val="1100"/>
              </a:spcBef>
            </a:pPr>
            <a:r>
              <a:rPr lang="en-US"/>
              <a:t>Collaborative writing can of course be done via Google Docs/Sharepoint, yet, there is no (good) version control and working on R/R Markdown code will be not feasible</a:t>
            </a:r>
          </a:p>
          <a:p>
            <a:pPr>
              <a:spcBef>
                <a:spcPts val="1100"/>
              </a:spcBef>
            </a:pPr>
            <a:endParaRPr lang="en-US"/>
          </a:p>
        </p:txBody>
      </p:sp>
      <p:grpSp>
        <p:nvGrpSpPr>
          <p:cNvPr id="57" name="Gruppieren 56">
            <a:extLst>
              <a:ext uri="{FF2B5EF4-FFF2-40B4-BE49-F238E27FC236}">
                <a16:creationId xmlns:a16="http://schemas.microsoft.com/office/drawing/2014/main" id="{F928A871-ECB9-4B48-BF71-E04A6173078E}"/>
              </a:ext>
            </a:extLst>
          </p:cNvPr>
          <p:cNvGrpSpPr/>
          <p:nvPr/>
        </p:nvGrpSpPr>
        <p:grpSpPr>
          <a:xfrm>
            <a:off x="6959600" y="1400783"/>
            <a:ext cx="4495800" cy="915726"/>
            <a:chOff x="6959600" y="1400783"/>
            <a:chExt cx="4495800" cy="915726"/>
          </a:xfrm>
        </p:grpSpPr>
        <p:cxnSp>
          <p:nvCxnSpPr>
            <p:cNvPr id="4" name="Gerade Verbindung mit Pfeil 3">
              <a:extLst>
                <a:ext uri="{FF2B5EF4-FFF2-40B4-BE49-F238E27FC236}">
                  <a16:creationId xmlns:a16="http://schemas.microsoft.com/office/drawing/2014/main" id="{0B4EB998-7D6B-1144-A0AA-2AB63773898E}"/>
                </a:ext>
              </a:extLst>
            </p:cNvPr>
            <p:cNvCxnSpPr>
              <a:cxnSpLocks/>
            </p:cNvCxnSpPr>
            <p:nvPr/>
          </p:nvCxnSpPr>
          <p:spPr>
            <a:xfrm>
              <a:off x="6959600" y="2243845"/>
              <a:ext cx="4495800" cy="0"/>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951D3729-ABCD-EC48-A73E-2DC5DABCE335}"/>
                </a:ext>
              </a:extLst>
            </p:cNvPr>
            <p:cNvSpPr txBox="1"/>
            <p:nvPr/>
          </p:nvSpPr>
          <p:spPr>
            <a:xfrm>
              <a:off x="8284619" y="1400783"/>
              <a:ext cx="1845763" cy="369332"/>
            </a:xfrm>
            <a:prstGeom prst="rect">
              <a:avLst/>
            </a:prstGeom>
            <a:noFill/>
          </p:spPr>
          <p:txBody>
            <a:bodyPr wrap="none" rtlCol="0">
              <a:spAutoFit/>
            </a:bodyPr>
            <a:lstStyle/>
            <a:p>
              <a:pPr algn="ctr"/>
              <a:r>
                <a:rPr lang="en-US" sz="1800">
                  <a:solidFill>
                    <a:schemeClr val="accent2"/>
                  </a:solidFill>
                </a:rPr>
                <a:t>Version Control</a:t>
              </a:r>
            </a:p>
          </p:txBody>
        </p:sp>
        <p:sp>
          <p:nvSpPr>
            <p:cNvPr id="6" name="Oval 5">
              <a:extLst>
                <a:ext uri="{FF2B5EF4-FFF2-40B4-BE49-F238E27FC236}">
                  <a16:creationId xmlns:a16="http://schemas.microsoft.com/office/drawing/2014/main" id="{B2C41EDF-7976-314D-8F1E-7A84CA7A8F14}"/>
                </a:ext>
              </a:extLst>
            </p:cNvPr>
            <p:cNvSpPr>
              <a:spLocks noChangeAspect="1"/>
            </p:cNvSpPr>
            <p:nvPr/>
          </p:nvSpPr>
          <p:spPr>
            <a:xfrm>
              <a:off x="7156450" y="2172509"/>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Oval 7">
              <a:extLst>
                <a:ext uri="{FF2B5EF4-FFF2-40B4-BE49-F238E27FC236}">
                  <a16:creationId xmlns:a16="http://schemas.microsoft.com/office/drawing/2014/main" id="{FA06EB3E-CCB8-1941-9BB1-8C45140DD8B4}"/>
                </a:ext>
              </a:extLst>
            </p:cNvPr>
            <p:cNvSpPr>
              <a:spLocks noChangeAspect="1"/>
            </p:cNvSpPr>
            <p:nvPr/>
          </p:nvSpPr>
          <p:spPr>
            <a:xfrm>
              <a:off x="8089999" y="2171845"/>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Oval 9">
              <a:extLst>
                <a:ext uri="{FF2B5EF4-FFF2-40B4-BE49-F238E27FC236}">
                  <a16:creationId xmlns:a16="http://schemas.microsoft.com/office/drawing/2014/main" id="{6CB0FF15-7084-0640-B129-C932CDB27689}"/>
                </a:ext>
              </a:extLst>
            </p:cNvPr>
            <p:cNvSpPr>
              <a:spLocks noChangeAspect="1"/>
            </p:cNvSpPr>
            <p:nvPr/>
          </p:nvSpPr>
          <p:spPr>
            <a:xfrm>
              <a:off x="8979170" y="2172509"/>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Oval 10">
              <a:extLst>
                <a:ext uri="{FF2B5EF4-FFF2-40B4-BE49-F238E27FC236}">
                  <a16:creationId xmlns:a16="http://schemas.microsoft.com/office/drawing/2014/main" id="{4311EE97-D193-2B4B-A268-8620DA14DFB0}"/>
                </a:ext>
              </a:extLst>
            </p:cNvPr>
            <p:cNvSpPr>
              <a:spLocks noChangeAspect="1"/>
            </p:cNvSpPr>
            <p:nvPr/>
          </p:nvSpPr>
          <p:spPr>
            <a:xfrm>
              <a:off x="9886779" y="2171845"/>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a:extLst>
                <a:ext uri="{FF2B5EF4-FFF2-40B4-BE49-F238E27FC236}">
                  <a16:creationId xmlns:a16="http://schemas.microsoft.com/office/drawing/2014/main" id="{AED1FC45-7D98-0447-9F26-286D0E8EDD93}"/>
                </a:ext>
              </a:extLst>
            </p:cNvPr>
            <p:cNvSpPr>
              <a:spLocks noChangeAspect="1"/>
            </p:cNvSpPr>
            <p:nvPr/>
          </p:nvSpPr>
          <p:spPr>
            <a:xfrm>
              <a:off x="10775950" y="2171845"/>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6" name="Gruppieren 65">
            <a:extLst>
              <a:ext uri="{FF2B5EF4-FFF2-40B4-BE49-F238E27FC236}">
                <a16:creationId xmlns:a16="http://schemas.microsoft.com/office/drawing/2014/main" id="{E4D3DBA7-3F8B-A547-9C63-6A1AB63396CD}"/>
              </a:ext>
            </a:extLst>
          </p:cNvPr>
          <p:cNvGrpSpPr/>
          <p:nvPr/>
        </p:nvGrpSpPr>
        <p:grpSpPr>
          <a:xfrm>
            <a:off x="8439336" y="1793096"/>
            <a:ext cx="2976301" cy="523413"/>
            <a:chOff x="8439336" y="1793096"/>
            <a:chExt cx="2976301" cy="523413"/>
          </a:xfrm>
        </p:grpSpPr>
        <p:cxnSp>
          <p:nvCxnSpPr>
            <p:cNvPr id="58" name="Gewinkelte Verbindung 57">
              <a:extLst>
                <a:ext uri="{FF2B5EF4-FFF2-40B4-BE49-F238E27FC236}">
                  <a16:creationId xmlns:a16="http://schemas.microsoft.com/office/drawing/2014/main" id="{399768DE-C1E1-2344-BFC6-9A55AB5EC6DB}"/>
                </a:ext>
              </a:extLst>
            </p:cNvPr>
            <p:cNvCxnSpPr>
              <a:cxnSpLocks/>
            </p:cNvCxnSpPr>
            <p:nvPr/>
          </p:nvCxnSpPr>
          <p:spPr>
            <a:xfrm rot="5400000">
              <a:off x="9949228" y="1417787"/>
              <a:ext cx="664" cy="1796780"/>
            </a:xfrm>
            <a:prstGeom prst="bentConnector3">
              <a:avLst>
                <a:gd name="adj1" fmla="val 34527711"/>
              </a:avLst>
            </a:prstGeom>
            <a:ln w="12700">
              <a:solidFill>
                <a:schemeClr val="accent1"/>
              </a:solidFill>
              <a:prstDash val="sysDot"/>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F9E7DB7C-FB6B-A24D-AA20-4709FFDD1E1D}"/>
                </a:ext>
              </a:extLst>
            </p:cNvPr>
            <p:cNvSpPr txBox="1"/>
            <p:nvPr/>
          </p:nvSpPr>
          <p:spPr>
            <a:xfrm>
              <a:off x="10280262" y="1793096"/>
              <a:ext cx="1135375" cy="257369"/>
            </a:xfrm>
            <a:prstGeom prst="rect">
              <a:avLst/>
            </a:prstGeom>
            <a:noFill/>
            <a:ln>
              <a:noFill/>
            </a:ln>
          </p:spPr>
          <p:txBody>
            <a:bodyPr wrap="none" tIns="36000" bIns="36000" rtlCol="0">
              <a:spAutoFit/>
            </a:bodyPr>
            <a:lstStyle/>
            <a:p>
              <a:r>
                <a:rPr lang="en-US" sz="1200">
                  <a:solidFill>
                    <a:schemeClr val="accent1"/>
                  </a:solidFill>
                </a:rPr>
                <a:t>current stage</a:t>
              </a:r>
            </a:p>
          </p:txBody>
        </p:sp>
        <p:cxnSp>
          <p:nvCxnSpPr>
            <p:cNvPr id="61" name="Gerade Verbindung mit Pfeil 60">
              <a:extLst>
                <a:ext uri="{FF2B5EF4-FFF2-40B4-BE49-F238E27FC236}">
                  <a16:creationId xmlns:a16="http://schemas.microsoft.com/office/drawing/2014/main" id="{A9DC5F48-549B-5A4E-9CDA-AECE0A53CAC7}"/>
                </a:ext>
              </a:extLst>
            </p:cNvPr>
            <p:cNvCxnSpPr>
              <a:stCxn id="59" idx="2"/>
              <a:endCxn id="12" idx="0"/>
            </p:cNvCxnSpPr>
            <p:nvPr/>
          </p:nvCxnSpPr>
          <p:spPr>
            <a:xfrm>
              <a:off x="10847950" y="2050465"/>
              <a:ext cx="0" cy="121380"/>
            </a:xfrm>
            <a:prstGeom prst="straightConnector1">
              <a:avLst/>
            </a:prstGeom>
            <a:ln w="12700">
              <a:solidFill>
                <a:schemeClr val="accent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D96A817B-5445-904A-9607-C1CF2EE44A4D}"/>
                </a:ext>
              </a:extLst>
            </p:cNvPr>
            <p:cNvSpPr txBox="1"/>
            <p:nvPr/>
          </p:nvSpPr>
          <p:spPr>
            <a:xfrm>
              <a:off x="8439336" y="1793708"/>
              <a:ext cx="1223669" cy="257369"/>
            </a:xfrm>
            <a:prstGeom prst="rect">
              <a:avLst/>
            </a:prstGeom>
            <a:noFill/>
            <a:ln>
              <a:noFill/>
            </a:ln>
          </p:spPr>
          <p:txBody>
            <a:bodyPr wrap="none" tIns="36000" bIns="36000" rtlCol="0">
              <a:spAutoFit/>
            </a:bodyPr>
            <a:lstStyle/>
            <a:p>
              <a:pPr algn="ctr"/>
              <a:r>
                <a:rPr lang="en-US" sz="1200">
                  <a:solidFill>
                    <a:schemeClr val="accent1"/>
                  </a:solidFill>
                </a:rPr>
                <a:t>previous stage</a:t>
              </a:r>
            </a:p>
          </p:txBody>
        </p:sp>
        <p:cxnSp>
          <p:nvCxnSpPr>
            <p:cNvPr id="63" name="Gerade Verbindung mit Pfeil 62">
              <a:extLst>
                <a:ext uri="{FF2B5EF4-FFF2-40B4-BE49-F238E27FC236}">
                  <a16:creationId xmlns:a16="http://schemas.microsoft.com/office/drawing/2014/main" id="{E7077630-B28A-D54E-ADA9-CA519909209F}"/>
                </a:ext>
              </a:extLst>
            </p:cNvPr>
            <p:cNvCxnSpPr>
              <a:cxnSpLocks/>
              <a:stCxn id="62" idx="2"/>
              <a:endCxn id="10" idx="0"/>
            </p:cNvCxnSpPr>
            <p:nvPr/>
          </p:nvCxnSpPr>
          <p:spPr>
            <a:xfrm flipH="1">
              <a:off x="9051170" y="2051077"/>
              <a:ext cx="1" cy="121432"/>
            </a:xfrm>
            <a:prstGeom prst="straightConnector1">
              <a:avLst/>
            </a:prstGeom>
            <a:ln w="12700">
              <a:solidFill>
                <a:schemeClr val="accent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80" name="Gruppieren 79">
            <a:extLst>
              <a:ext uri="{FF2B5EF4-FFF2-40B4-BE49-F238E27FC236}">
                <a16:creationId xmlns:a16="http://schemas.microsoft.com/office/drawing/2014/main" id="{CBE51982-E46F-F245-B1C8-5091227F9CAE}"/>
              </a:ext>
            </a:extLst>
          </p:cNvPr>
          <p:cNvGrpSpPr/>
          <p:nvPr/>
        </p:nvGrpSpPr>
        <p:grpSpPr>
          <a:xfrm>
            <a:off x="6959600" y="2846966"/>
            <a:ext cx="4527439" cy="2881765"/>
            <a:chOff x="6959600" y="2846966"/>
            <a:chExt cx="4527439" cy="2881765"/>
          </a:xfrm>
        </p:grpSpPr>
        <p:sp>
          <p:nvSpPr>
            <p:cNvPr id="38" name="Textfeld 37">
              <a:extLst>
                <a:ext uri="{FF2B5EF4-FFF2-40B4-BE49-F238E27FC236}">
                  <a16:creationId xmlns:a16="http://schemas.microsoft.com/office/drawing/2014/main" id="{7D118E03-0531-0541-9BFB-675F0599AB66}"/>
                </a:ext>
              </a:extLst>
            </p:cNvPr>
            <p:cNvSpPr txBox="1"/>
            <p:nvPr/>
          </p:nvSpPr>
          <p:spPr>
            <a:xfrm>
              <a:off x="7866652" y="2846966"/>
              <a:ext cx="2681696" cy="369332"/>
            </a:xfrm>
            <a:prstGeom prst="rect">
              <a:avLst/>
            </a:prstGeom>
            <a:noFill/>
          </p:spPr>
          <p:txBody>
            <a:bodyPr wrap="none" rtlCol="0">
              <a:spAutoFit/>
            </a:bodyPr>
            <a:lstStyle/>
            <a:p>
              <a:pPr algn="ctr"/>
              <a:r>
                <a:rPr lang="en-US" sz="1800">
                  <a:solidFill>
                    <a:schemeClr val="accent2"/>
                  </a:solidFill>
                </a:rPr>
                <a:t>Branching and Merging</a:t>
              </a:r>
            </a:p>
          </p:txBody>
        </p:sp>
        <p:grpSp>
          <p:nvGrpSpPr>
            <p:cNvPr id="79" name="Gruppieren 78">
              <a:extLst>
                <a:ext uri="{FF2B5EF4-FFF2-40B4-BE49-F238E27FC236}">
                  <a16:creationId xmlns:a16="http://schemas.microsoft.com/office/drawing/2014/main" id="{9FDD6E4C-95F9-6C48-BAFC-D666F08E5790}"/>
                </a:ext>
              </a:extLst>
            </p:cNvPr>
            <p:cNvGrpSpPr/>
            <p:nvPr/>
          </p:nvGrpSpPr>
          <p:grpSpPr>
            <a:xfrm>
              <a:off x="6959600" y="3204603"/>
              <a:ext cx="4527439" cy="2524128"/>
              <a:chOff x="6959600" y="3204603"/>
              <a:chExt cx="4527439" cy="2524128"/>
            </a:xfrm>
          </p:grpSpPr>
          <p:cxnSp>
            <p:nvCxnSpPr>
              <p:cNvPr id="14" name="Gerade Verbindung mit Pfeil 13">
                <a:extLst>
                  <a:ext uri="{FF2B5EF4-FFF2-40B4-BE49-F238E27FC236}">
                    <a16:creationId xmlns:a16="http://schemas.microsoft.com/office/drawing/2014/main" id="{6A1DDFD4-8E75-7C4B-90B7-793683EB87CD}"/>
                  </a:ext>
                </a:extLst>
              </p:cNvPr>
              <p:cNvCxnSpPr>
                <a:cxnSpLocks/>
              </p:cNvCxnSpPr>
              <p:nvPr/>
            </p:nvCxnSpPr>
            <p:spPr>
              <a:xfrm>
                <a:off x="6959600" y="3651289"/>
                <a:ext cx="4495800" cy="0"/>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04446AC-731D-1749-8DF4-AE19ED37F362}"/>
                  </a:ext>
                </a:extLst>
              </p:cNvPr>
              <p:cNvSpPr>
                <a:spLocks noChangeAspect="1"/>
              </p:cNvSpPr>
              <p:nvPr/>
            </p:nvSpPr>
            <p:spPr>
              <a:xfrm>
                <a:off x="7156450" y="3579953"/>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Oval 15">
                <a:extLst>
                  <a:ext uri="{FF2B5EF4-FFF2-40B4-BE49-F238E27FC236}">
                    <a16:creationId xmlns:a16="http://schemas.microsoft.com/office/drawing/2014/main" id="{CF702367-809F-E447-B18D-8BF215C67574}"/>
                  </a:ext>
                </a:extLst>
              </p:cNvPr>
              <p:cNvSpPr>
                <a:spLocks noChangeAspect="1"/>
              </p:cNvSpPr>
              <p:nvPr/>
            </p:nvSpPr>
            <p:spPr>
              <a:xfrm>
                <a:off x="8089999" y="3579289"/>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Oval 16">
                <a:extLst>
                  <a:ext uri="{FF2B5EF4-FFF2-40B4-BE49-F238E27FC236}">
                    <a16:creationId xmlns:a16="http://schemas.microsoft.com/office/drawing/2014/main" id="{0F1AA10B-636B-2A47-B4FB-4547189B9CEE}"/>
                  </a:ext>
                </a:extLst>
              </p:cNvPr>
              <p:cNvSpPr>
                <a:spLocks noChangeAspect="1"/>
              </p:cNvSpPr>
              <p:nvPr/>
            </p:nvSpPr>
            <p:spPr>
              <a:xfrm>
                <a:off x="8979170" y="3579953"/>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Oval 17">
                <a:extLst>
                  <a:ext uri="{FF2B5EF4-FFF2-40B4-BE49-F238E27FC236}">
                    <a16:creationId xmlns:a16="http://schemas.microsoft.com/office/drawing/2014/main" id="{09F516E6-08CD-4F41-973E-6A338AD3BA0D}"/>
                  </a:ext>
                </a:extLst>
              </p:cNvPr>
              <p:cNvSpPr>
                <a:spLocks noChangeAspect="1"/>
              </p:cNvSpPr>
              <p:nvPr/>
            </p:nvSpPr>
            <p:spPr>
              <a:xfrm>
                <a:off x="9886779" y="3579289"/>
                <a:ext cx="144000" cy="14400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Oval 18">
                <a:extLst>
                  <a:ext uri="{FF2B5EF4-FFF2-40B4-BE49-F238E27FC236}">
                    <a16:creationId xmlns:a16="http://schemas.microsoft.com/office/drawing/2014/main" id="{EC9D8E56-5B5A-7A4C-B0CE-BF37C9ABDA56}"/>
                  </a:ext>
                </a:extLst>
              </p:cNvPr>
              <p:cNvSpPr>
                <a:spLocks noChangeAspect="1"/>
              </p:cNvSpPr>
              <p:nvPr/>
            </p:nvSpPr>
            <p:spPr>
              <a:xfrm>
                <a:off x="10775950" y="3579289"/>
                <a:ext cx="144000" cy="144000"/>
              </a:xfrm>
              <a:prstGeom prst="ellipse">
                <a:avLst/>
              </a:prstGeom>
              <a:solidFill>
                <a:srgbClr val="02ACA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67" name="Gruppieren 66">
                <a:extLst>
                  <a:ext uri="{FF2B5EF4-FFF2-40B4-BE49-F238E27FC236}">
                    <a16:creationId xmlns:a16="http://schemas.microsoft.com/office/drawing/2014/main" id="{B785367A-E189-784D-A734-1CBBC1AC6DF2}"/>
                  </a:ext>
                </a:extLst>
              </p:cNvPr>
              <p:cNvGrpSpPr/>
              <p:nvPr/>
            </p:nvGrpSpPr>
            <p:grpSpPr>
              <a:xfrm>
                <a:off x="8161999" y="3722495"/>
                <a:ext cx="1800588" cy="454928"/>
                <a:chOff x="8161999" y="3722495"/>
                <a:chExt cx="1800588" cy="454928"/>
              </a:xfrm>
            </p:grpSpPr>
            <p:cxnSp>
              <p:nvCxnSpPr>
                <p:cNvPr id="25" name="Gerade Verbindung mit Pfeil 24">
                  <a:extLst>
                    <a:ext uri="{FF2B5EF4-FFF2-40B4-BE49-F238E27FC236}">
                      <a16:creationId xmlns:a16="http://schemas.microsoft.com/office/drawing/2014/main" id="{912B4E85-9E71-6745-9575-402FCFFEC117}"/>
                    </a:ext>
                  </a:extLst>
                </p:cNvPr>
                <p:cNvCxnSpPr>
                  <a:cxnSpLocks/>
                </p:cNvCxnSpPr>
                <p:nvPr/>
              </p:nvCxnSpPr>
              <p:spPr>
                <a:xfrm>
                  <a:off x="8162587" y="4095519"/>
                  <a:ext cx="1800000" cy="9904"/>
                </a:xfrm>
                <a:prstGeom prst="straightConnector1">
                  <a:avLst/>
                </a:prstGeom>
                <a:ln w="12700">
                  <a:solidFill>
                    <a:srgbClr val="F07D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20D832F-FA81-FA41-A210-F879CB366EF9}"/>
                    </a:ext>
                  </a:extLst>
                </p:cNvPr>
                <p:cNvSpPr>
                  <a:spLocks noChangeAspect="1"/>
                </p:cNvSpPr>
                <p:nvPr/>
              </p:nvSpPr>
              <p:spPr>
                <a:xfrm>
                  <a:off x="8534584" y="4033423"/>
                  <a:ext cx="144000" cy="144000"/>
                </a:xfrm>
                <a:prstGeom prst="ellipse">
                  <a:avLst/>
                </a:prstGeom>
                <a:solidFill>
                  <a:srgbClr val="F07D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Oval 26">
                  <a:extLst>
                    <a:ext uri="{FF2B5EF4-FFF2-40B4-BE49-F238E27FC236}">
                      <a16:creationId xmlns:a16="http://schemas.microsoft.com/office/drawing/2014/main" id="{0A5204B3-778C-8C4D-A26E-F2EBDFEDBA13}"/>
                    </a:ext>
                  </a:extLst>
                </p:cNvPr>
                <p:cNvSpPr>
                  <a:spLocks noChangeAspect="1"/>
                </p:cNvSpPr>
                <p:nvPr/>
              </p:nvSpPr>
              <p:spPr>
                <a:xfrm>
                  <a:off x="9432975" y="4023519"/>
                  <a:ext cx="144000" cy="144000"/>
                </a:xfrm>
                <a:prstGeom prst="ellipse">
                  <a:avLst/>
                </a:prstGeom>
                <a:solidFill>
                  <a:srgbClr val="F07D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1" name="Gerade Verbindung mit Pfeil 30">
                  <a:extLst>
                    <a:ext uri="{FF2B5EF4-FFF2-40B4-BE49-F238E27FC236}">
                      <a16:creationId xmlns:a16="http://schemas.microsoft.com/office/drawing/2014/main" id="{8431FE57-61A6-EF40-B4AD-76A4C5CF000A}"/>
                    </a:ext>
                  </a:extLst>
                </p:cNvPr>
                <p:cNvCxnSpPr>
                  <a:cxnSpLocks/>
                  <a:stCxn id="16" idx="4"/>
                </p:cNvCxnSpPr>
                <p:nvPr/>
              </p:nvCxnSpPr>
              <p:spPr>
                <a:xfrm>
                  <a:off x="8161999" y="3723289"/>
                  <a:ext cx="588" cy="372230"/>
                </a:xfrm>
                <a:prstGeom prst="straightConnector1">
                  <a:avLst/>
                </a:prstGeom>
                <a:ln w="12700">
                  <a:solidFill>
                    <a:srgbClr val="F07D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1ADA8241-D115-B746-A5DC-B2FF40674FB0}"/>
                    </a:ext>
                  </a:extLst>
                </p:cNvPr>
                <p:cNvCxnSpPr>
                  <a:cxnSpLocks/>
                </p:cNvCxnSpPr>
                <p:nvPr/>
              </p:nvCxnSpPr>
              <p:spPr>
                <a:xfrm flipH="1">
                  <a:off x="9958779" y="3722495"/>
                  <a:ext cx="0" cy="372230"/>
                </a:xfrm>
                <a:prstGeom prst="straightConnector1">
                  <a:avLst/>
                </a:prstGeom>
                <a:ln w="12700">
                  <a:solidFill>
                    <a:srgbClr val="F07D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8" name="Gruppieren 67">
                <a:extLst>
                  <a:ext uri="{FF2B5EF4-FFF2-40B4-BE49-F238E27FC236}">
                    <a16:creationId xmlns:a16="http://schemas.microsoft.com/office/drawing/2014/main" id="{71D6DC8A-AE68-3544-B71E-FB035583517E}"/>
                  </a:ext>
                </a:extLst>
              </p:cNvPr>
              <p:cNvGrpSpPr/>
              <p:nvPr/>
            </p:nvGrpSpPr>
            <p:grpSpPr>
              <a:xfrm>
                <a:off x="8111087" y="3702201"/>
                <a:ext cx="1888208" cy="721483"/>
                <a:chOff x="8111087" y="3702201"/>
                <a:chExt cx="1888208" cy="721483"/>
              </a:xfrm>
            </p:grpSpPr>
            <p:cxnSp>
              <p:nvCxnSpPr>
                <p:cNvPr id="43" name="Gerade Verbindung mit Pfeil 42">
                  <a:extLst>
                    <a:ext uri="{FF2B5EF4-FFF2-40B4-BE49-F238E27FC236}">
                      <a16:creationId xmlns:a16="http://schemas.microsoft.com/office/drawing/2014/main" id="{63C40241-3B8B-9A46-BCE5-28BA19025023}"/>
                    </a:ext>
                  </a:extLst>
                </p:cNvPr>
                <p:cNvCxnSpPr>
                  <a:cxnSpLocks/>
                </p:cNvCxnSpPr>
                <p:nvPr/>
              </p:nvCxnSpPr>
              <p:spPr>
                <a:xfrm>
                  <a:off x="8111087" y="4351684"/>
                  <a:ext cx="1888208" cy="0"/>
                </a:xfrm>
                <a:prstGeom prst="straightConnector1">
                  <a:avLst/>
                </a:prstGeom>
                <a:ln w="12700">
                  <a:solidFill>
                    <a:schemeClr val="accent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C75FBBAD-BE29-6949-B72F-A7FEAACEBA3B}"/>
                    </a:ext>
                  </a:extLst>
                </p:cNvPr>
                <p:cNvSpPr>
                  <a:spLocks noChangeAspect="1"/>
                </p:cNvSpPr>
                <p:nvPr/>
              </p:nvSpPr>
              <p:spPr>
                <a:xfrm>
                  <a:off x="8533996" y="4279684"/>
                  <a:ext cx="144000" cy="144000"/>
                </a:xfrm>
                <a:prstGeom prst="ellipse">
                  <a:avLst/>
                </a:pr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Oval 44">
                  <a:extLst>
                    <a:ext uri="{FF2B5EF4-FFF2-40B4-BE49-F238E27FC236}">
                      <a16:creationId xmlns:a16="http://schemas.microsoft.com/office/drawing/2014/main" id="{2B35861C-5E6B-E34C-B573-B2E80F7A1836}"/>
                    </a:ext>
                  </a:extLst>
                </p:cNvPr>
                <p:cNvSpPr>
                  <a:spLocks noChangeAspect="1"/>
                </p:cNvSpPr>
                <p:nvPr/>
              </p:nvSpPr>
              <p:spPr>
                <a:xfrm>
                  <a:off x="9432387" y="4269780"/>
                  <a:ext cx="144000" cy="144000"/>
                </a:xfrm>
                <a:prstGeom prst="ellipse">
                  <a:avLst/>
                </a:pr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6" name="Gerade Verbindung mit Pfeil 45">
                  <a:extLst>
                    <a:ext uri="{FF2B5EF4-FFF2-40B4-BE49-F238E27FC236}">
                      <a16:creationId xmlns:a16="http://schemas.microsoft.com/office/drawing/2014/main" id="{472B4EBB-5C7B-ED48-B9DD-FDF40DCC884F}"/>
                    </a:ext>
                  </a:extLst>
                </p:cNvPr>
                <p:cNvCxnSpPr>
                  <a:cxnSpLocks/>
                  <a:stCxn id="16" idx="3"/>
                </p:cNvCxnSpPr>
                <p:nvPr/>
              </p:nvCxnSpPr>
              <p:spPr>
                <a:xfrm>
                  <a:off x="8111087" y="3702201"/>
                  <a:ext cx="0" cy="649483"/>
                </a:xfrm>
                <a:prstGeom prst="straightConnector1">
                  <a:avLst/>
                </a:prstGeom>
                <a:ln w="12700">
                  <a:solidFill>
                    <a:schemeClr val="accent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Gerade Verbindung mit Pfeil 46">
                  <a:extLst>
                    <a:ext uri="{FF2B5EF4-FFF2-40B4-BE49-F238E27FC236}">
                      <a16:creationId xmlns:a16="http://schemas.microsoft.com/office/drawing/2014/main" id="{4B495BCA-096B-D949-BD82-7DDB43F58E48}"/>
                    </a:ext>
                  </a:extLst>
                </p:cNvPr>
                <p:cNvCxnSpPr>
                  <a:cxnSpLocks/>
                  <a:stCxn id="18" idx="5"/>
                </p:cNvCxnSpPr>
                <p:nvPr/>
              </p:nvCxnSpPr>
              <p:spPr>
                <a:xfrm flipH="1">
                  <a:off x="9999295" y="3702201"/>
                  <a:ext cx="0" cy="649483"/>
                </a:xfrm>
                <a:prstGeom prst="straightConnector1">
                  <a:avLst/>
                </a:prstGeom>
                <a:ln w="12700">
                  <a:solidFill>
                    <a:schemeClr val="accent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4" name="Textfeld 53">
                <a:extLst>
                  <a:ext uri="{FF2B5EF4-FFF2-40B4-BE49-F238E27FC236}">
                    <a16:creationId xmlns:a16="http://schemas.microsoft.com/office/drawing/2014/main" id="{F739848E-5D9F-7A4E-9EDE-973AB6669683}"/>
                  </a:ext>
                </a:extLst>
              </p:cNvPr>
              <p:cNvSpPr txBox="1"/>
              <p:nvPr/>
            </p:nvSpPr>
            <p:spPr>
              <a:xfrm>
                <a:off x="8222850" y="5282455"/>
                <a:ext cx="1701107" cy="446276"/>
              </a:xfrm>
              <a:prstGeom prst="rect">
                <a:avLst/>
              </a:prstGeom>
              <a:noFill/>
            </p:spPr>
            <p:txBody>
              <a:bodyPr wrap="none" rtlCol="0">
                <a:spAutoFit/>
              </a:bodyPr>
              <a:lstStyle/>
              <a:p>
                <a:pPr algn="ctr"/>
                <a:r>
                  <a:rPr lang="en-US" sz="1200">
                    <a:solidFill>
                      <a:schemeClr val="accent1"/>
                    </a:solidFill>
                  </a:rPr>
                  <a:t>pull </a:t>
                </a:r>
                <a:r>
                  <a:rPr lang="en-US" sz="1100">
                    <a:solidFill>
                      <a:schemeClr val="accent1"/>
                    </a:solidFill>
                  </a:rPr>
                  <a:t>request</a:t>
                </a:r>
              </a:p>
              <a:p>
                <a:pPr algn="ctr"/>
                <a:r>
                  <a:rPr lang="en-US" sz="1100">
                    <a:solidFill>
                      <a:schemeClr val="accent1"/>
                    </a:solidFill>
                  </a:rPr>
                  <a:t>(discussion of changes)</a:t>
                </a:r>
                <a:endParaRPr lang="en-US" sz="1200">
                  <a:solidFill>
                    <a:schemeClr val="accent1"/>
                  </a:solidFill>
                </a:endParaRPr>
              </a:p>
            </p:txBody>
          </p:sp>
          <p:cxnSp>
            <p:nvCxnSpPr>
              <p:cNvPr id="56" name="Gewinkelte Verbindung 55">
                <a:extLst>
                  <a:ext uri="{FF2B5EF4-FFF2-40B4-BE49-F238E27FC236}">
                    <a16:creationId xmlns:a16="http://schemas.microsoft.com/office/drawing/2014/main" id="{84AA653B-3E0B-9644-8B61-CF8FF35A2C0B}"/>
                  </a:ext>
                </a:extLst>
              </p:cNvPr>
              <p:cNvCxnSpPr>
                <a:cxnSpLocks/>
                <a:stCxn id="54" idx="3"/>
              </p:cNvCxnSpPr>
              <p:nvPr/>
            </p:nvCxnSpPr>
            <p:spPr>
              <a:xfrm flipV="1">
                <a:off x="9923957" y="4433589"/>
                <a:ext cx="34822" cy="1072004"/>
              </a:xfrm>
              <a:prstGeom prst="bentConnector2">
                <a:avLst/>
              </a:prstGeom>
              <a:ln w="12700">
                <a:solidFill>
                  <a:schemeClr val="accent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78" name="Gruppieren 77">
                <a:extLst>
                  <a:ext uri="{FF2B5EF4-FFF2-40B4-BE49-F238E27FC236}">
                    <a16:creationId xmlns:a16="http://schemas.microsoft.com/office/drawing/2014/main" id="{C9D117D3-97D9-104D-895B-E14AA825763D}"/>
                  </a:ext>
                </a:extLst>
              </p:cNvPr>
              <p:cNvGrpSpPr/>
              <p:nvPr/>
            </p:nvGrpSpPr>
            <p:grpSpPr>
              <a:xfrm>
                <a:off x="7130747" y="3246073"/>
                <a:ext cx="1084079" cy="378801"/>
                <a:chOff x="7130747" y="3246073"/>
                <a:chExt cx="1084079" cy="378801"/>
              </a:xfrm>
            </p:grpSpPr>
            <p:sp>
              <p:nvSpPr>
                <p:cNvPr id="69" name="Textfeld 68">
                  <a:extLst>
                    <a:ext uri="{FF2B5EF4-FFF2-40B4-BE49-F238E27FC236}">
                      <a16:creationId xmlns:a16="http://schemas.microsoft.com/office/drawing/2014/main" id="{6FBCED92-0053-6149-8C2A-7A31A6BF81ED}"/>
                    </a:ext>
                  </a:extLst>
                </p:cNvPr>
                <p:cNvSpPr txBox="1"/>
                <p:nvPr/>
              </p:nvSpPr>
              <p:spPr>
                <a:xfrm>
                  <a:off x="7130747" y="3246073"/>
                  <a:ext cx="1084079" cy="257369"/>
                </a:xfrm>
                <a:prstGeom prst="rect">
                  <a:avLst/>
                </a:prstGeom>
                <a:noFill/>
                <a:ln>
                  <a:noFill/>
                </a:ln>
              </p:spPr>
              <p:txBody>
                <a:bodyPr wrap="none" tIns="36000" bIns="36000" rtlCol="0">
                  <a:spAutoFit/>
                </a:bodyPr>
                <a:lstStyle/>
                <a:p>
                  <a:pPr algn="ctr"/>
                  <a:r>
                    <a:rPr lang="en-US" sz="1200">
                      <a:solidFill>
                        <a:schemeClr val="accent1"/>
                      </a:solidFill>
                    </a:rPr>
                    <a:t>project main</a:t>
                  </a:r>
                </a:p>
              </p:txBody>
            </p:sp>
            <p:cxnSp>
              <p:nvCxnSpPr>
                <p:cNvPr id="70" name="Gerade Verbindung mit Pfeil 69">
                  <a:extLst>
                    <a:ext uri="{FF2B5EF4-FFF2-40B4-BE49-F238E27FC236}">
                      <a16:creationId xmlns:a16="http://schemas.microsoft.com/office/drawing/2014/main" id="{89E171AD-1CE9-F74D-8656-D36478156245}"/>
                    </a:ext>
                  </a:extLst>
                </p:cNvPr>
                <p:cNvCxnSpPr>
                  <a:cxnSpLocks/>
                  <a:stCxn id="69" idx="2"/>
                </p:cNvCxnSpPr>
                <p:nvPr/>
              </p:nvCxnSpPr>
              <p:spPr>
                <a:xfrm flipH="1">
                  <a:off x="7672784" y="3503442"/>
                  <a:ext cx="3" cy="121432"/>
                </a:xfrm>
                <a:prstGeom prst="straightConnector1">
                  <a:avLst/>
                </a:prstGeom>
                <a:ln w="12700">
                  <a:solidFill>
                    <a:schemeClr val="accent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71" name="Textfeld 70">
                <a:extLst>
                  <a:ext uri="{FF2B5EF4-FFF2-40B4-BE49-F238E27FC236}">
                    <a16:creationId xmlns:a16="http://schemas.microsoft.com/office/drawing/2014/main" id="{40D9A725-36D7-7F4F-8251-25AF9E722660}"/>
                  </a:ext>
                </a:extLst>
              </p:cNvPr>
              <p:cNvSpPr txBox="1"/>
              <p:nvPr/>
            </p:nvSpPr>
            <p:spPr>
              <a:xfrm>
                <a:off x="8637538" y="4526115"/>
                <a:ext cx="846835" cy="257369"/>
              </a:xfrm>
              <a:prstGeom prst="rect">
                <a:avLst/>
              </a:prstGeom>
              <a:noFill/>
              <a:ln>
                <a:noFill/>
              </a:ln>
            </p:spPr>
            <p:txBody>
              <a:bodyPr wrap="none" tIns="36000" bIns="36000" rtlCol="0">
                <a:spAutoFit/>
              </a:bodyPr>
              <a:lstStyle/>
              <a:p>
                <a:pPr algn="ctr"/>
                <a:r>
                  <a:rPr lang="en-US" sz="1200">
                    <a:solidFill>
                      <a:schemeClr val="accent1"/>
                    </a:solidFill>
                  </a:rPr>
                  <a:t>branches</a:t>
                </a:r>
              </a:p>
            </p:txBody>
          </p:sp>
          <p:cxnSp>
            <p:nvCxnSpPr>
              <p:cNvPr id="72" name="Gerade Verbindung mit Pfeil 71">
                <a:extLst>
                  <a:ext uri="{FF2B5EF4-FFF2-40B4-BE49-F238E27FC236}">
                    <a16:creationId xmlns:a16="http://schemas.microsoft.com/office/drawing/2014/main" id="{2CD8C818-54F3-F54D-AEBF-18BA2E7026E1}"/>
                  </a:ext>
                </a:extLst>
              </p:cNvPr>
              <p:cNvCxnSpPr>
                <a:cxnSpLocks/>
                <a:stCxn id="71" idx="0"/>
              </p:cNvCxnSpPr>
              <p:nvPr/>
            </p:nvCxnSpPr>
            <p:spPr>
              <a:xfrm flipH="1" flipV="1">
                <a:off x="9060955" y="4376455"/>
                <a:ext cx="1" cy="149660"/>
              </a:xfrm>
              <a:prstGeom prst="straightConnector1">
                <a:avLst/>
              </a:prstGeom>
              <a:ln w="12700">
                <a:solidFill>
                  <a:schemeClr val="accent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26969C1A-060A-8D49-8BC3-155BEA2D605F}"/>
                  </a:ext>
                </a:extLst>
              </p:cNvPr>
              <p:cNvSpPr txBox="1"/>
              <p:nvPr/>
            </p:nvSpPr>
            <p:spPr>
              <a:xfrm>
                <a:off x="10208868" y="3204603"/>
                <a:ext cx="1278171" cy="257369"/>
              </a:xfrm>
              <a:prstGeom prst="rect">
                <a:avLst/>
              </a:prstGeom>
              <a:noFill/>
              <a:ln>
                <a:noFill/>
              </a:ln>
            </p:spPr>
            <p:txBody>
              <a:bodyPr wrap="none" tIns="36000" bIns="36000" rtlCol="0">
                <a:spAutoFit/>
              </a:bodyPr>
              <a:lstStyle/>
              <a:p>
                <a:pPr algn="ctr"/>
                <a:r>
                  <a:rPr lang="en-US" sz="1200">
                    <a:solidFill>
                      <a:schemeClr val="accent1"/>
                    </a:solidFill>
                  </a:rPr>
                  <a:t>merged project</a:t>
                </a:r>
              </a:p>
            </p:txBody>
          </p:sp>
          <p:cxnSp>
            <p:nvCxnSpPr>
              <p:cNvPr id="77" name="Gerade Verbindung mit Pfeil 76">
                <a:extLst>
                  <a:ext uri="{FF2B5EF4-FFF2-40B4-BE49-F238E27FC236}">
                    <a16:creationId xmlns:a16="http://schemas.microsoft.com/office/drawing/2014/main" id="{12F1AD5D-C21D-0745-9BAF-277CC6C4181F}"/>
                  </a:ext>
                </a:extLst>
              </p:cNvPr>
              <p:cNvCxnSpPr>
                <a:stCxn id="76" idx="2"/>
              </p:cNvCxnSpPr>
              <p:nvPr/>
            </p:nvCxnSpPr>
            <p:spPr>
              <a:xfrm flipH="1">
                <a:off x="10847950" y="3461972"/>
                <a:ext cx="4" cy="121380"/>
              </a:xfrm>
              <a:prstGeom prst="straightConnector1">
                <a:avLst/>
              </a:prstGeom>
              <a:ln w="12700">
                <a:solidFill>
                  <a:schemeClr val="accent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242496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500"/>
                                        <p:tgtEl>
                                          <p:spTgt spid="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childTnLst>
                          </p:cTn>
                        </p:par>
                        <p:par>
                          <p:cTn id="11" fill="hold">
                            <p:stCondLst>
                              <p:cond delay="500"/>
                            </p:stCondLst>
                            <p:childTnLst>
                              <p:par>
                                <p:cTn id="12" presetID="22" presetClass="entr" presetSubtype="2" fill="hold" nodeType="afterEffect">
                                  <p:stCondLst>
                                    <p:cond delay="2000"/>
                                  </p:stCondLst>
                                  <p:childTnLst>
                                    <p:set>
                                      <p:cBhvr>
                                        <p:cTn id="13" dur="1" fill="hold">
                                          <p:stCondLst>
                                            <p:cond delay="0"/>
                                          </p:stCondLst>
                                        </p:cTn>
                                        <p:tgtEl>
                                          <p:spTgt spid="66"/>
                                        </p:tgtEl>
                                        <p:attrNameLst>
                                          <p:attrName>style.visibility</p:attrName>
                                        </p:attrNameLst>
                                      </p:cBhvr>
                                      <p:to>
                                        <p:strVal val="visible"/>
                                      </p:to>
                                    </p:set>
                                    <p:animEffect transition="in" filter="wipe(right)">
                                      <p:cBhvr>
                                        <p:cTn id="14" dur="500"/>
                                        <p:tgtEl>
                                          <p:spTgt spid="6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500"/>
                                        <p:tgtEl>
                                          <p:spTgt spid="9">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0"/>
                                        </p:tgtEl>
                                        <p:attrNameLst>
                                          <p:attrName>style.visibility</p:attrName>
                                        </p:attrNameLst>
                                      </p:cBhvr>
                                      <p:to>
                                        <p:strVal val="visible"/>
                                      </p:to>
                                    </p:set>
                                    <p:animEffect transition="in" filter="fade">
                                      <p:cBhvr>
                                        <p:cTn id="22" dur="500"/>
                                        <p:tgtEl>
                                          <p:spTgt spid="8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GitHub</a:t>
            </a:r>
            <a:br>
              <a:rPr lang="en-US"/>
            </a:br>
            <a:r>
              <a:rPr lang="en-US" b="0"/>
              <a:t>Workflow</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10580686" cy="4344987"/>
          </a:xfrm>
        </p:spPr>
        <p:txBody>
          <a:bodyPr/>
          <a:lstStyle/>
          <a:p>
            <a:pPr>
              <a:spcBef>
                <a:spcPts val="600"/>
              </a:spcBef>
            </a:pPr>
            <a:r>
              <a:rPr lang="en-US" altLang="x-none" sz="1800" b="1">
                <a:latin typeface="Open Sans" charset="0"/>
                <a:ea typeface="Open Sans" charset="0"/>
                <a:cs typeface="Open Sans" charset="0"/>
              </a:rPr>
              <a:t>GitHub Workflow</a:t>
            </a:r>
          </a:p>
          <a:p>
            <a:pPr>
              <a:spcBef>
                <a:spcPts val="1100"/>
              </a:spcBef>
            </a:pPr>
            <a:r>
              <a:rPr lang="en-US"/>
              <a:t>Researcher A creates GitHub repository, invites collaborators B and C via “Settings“</a:t>
            </a:r>
          </a:p>
          <a:p>
            <a:pPr>
              <a:spcBef>
                <a:spcPts val="1100"/>
              </a:spcBef>
            </a:pPr>
            <a:r>
              <a:rPr lang="en-US"/>
              <a:t>A, B, and C either work together </a:t>
            </a:r>
          </a:p>
          <a:p>
            <a:pPr marL="314325" lvl="1" indent="-307975"/>
            <a:r>
              <a:rPr lang="en-US"/>
              <a:t>on the main project „Code“ or </a:t>
            </a:r>
          </a:p>
          <a:p>
            <a:pPr marL="314325" lvl="1" indent="-307975"/>
            <a:r>
              <a:rPr lang="en-US"/>
              <a:t>work on separate tasks (as defined, e.g., via „Projects“ or „Issues“) or</a:t>
            </a:r>
          </a:p>
          <a:p>
            <a:pPr marL="314325" lvl="1" indent="-307975"/>
            <a:r>
              <a:rPr lang="en-US"/>
              <a:t>create a branch from the main timeline and later issue a „Pull request“</a:t>
            </a:r>
          </a:p>
          <a:p>
            <a:pPr marL="314325" lvl="1" indent="-307975"/>
            <a:r>
              <a:rPr lang="en-US"/>
              <a:t>organize their collaboration via Issues, Projects and perhaps a Wiki (here not visible)</a:t>
            </a:r>
          </a:p>
        </p:txBody>
      </p:sp>
      <p:pic>
        <p:nvPicPr>
          <p:cNvPr id="2" name="Grafik 1">
            <a:extLst>
              <a:ext uri="{FF2B5EF4-FFF2-40B4-BE49-F238E27FC236}">
                <a16:creationId xmlns:a16="http://schemas.microsoft.com/office/drawing/2014/main" id="{96D4431E-3BC7-DC46-BA1C-440A072B0F18}"/>
              </a:ext>
            </a:extLst>
          </p:cNvPr>
          <p:cNvPicPr>
            <a:picLocks noChangeAspect="1"/>
          </p:cNvPicPr>
          <p:nvPr/>
        </p:nvPicPr>
        <p:blipFill>
          <a:blip r:embed="rId3"/>
          <a:stretch>
            <a:fillRect/>
          </a:stretch>
        </p:blipFill>
        <p:spPr>
          <a:xfrm>
            <a:off x="874713" y="3751638"/>
            <a:ext cx="10580686" cy="2077662"/>
          </a:xfrm>
          <a:prstGeom prst="rect">
            <a:avLst/>
          </a:prstGeom>
        </p:spPr>
      </p:pic>
    </p:spTree>
    <p:custDataLst>
      <p:tags r:id="rId1"/>
    </p:custDataLst>
    <p:extLst>
      <p:ext uri="{BB962C8B-B14F-4D97-AF65-F5344CB8AC3E}">
        <p14:creationId xmlns:p14="http://schemas.microsoft.com/office/powerpoint/2010/main" val="651593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dirty="0"/>
              <a:t>GitHub</a:t>
            </a:r>
            <a:br>
              <a:rPr lang="en-US" dirty="0"/>
            </a:br>
            <a:r>
              <a:rPr lang="en-US" b="0" dirty="0"/>
              <a:t>Drawbacks</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1" y="1484313"/>
            <a:ext cx="5740097" cy="4344987"/>
          </a:xfrm>
        </p:spPr>
        <p:txBody>
          <a:bodyPr/>
          <a:lstStyle/>
          <a:p>
            <a:pPr>
              <a:spcBef>
                <a:spcPts val="600"/>
              </a:spcBef>
            </a:pPr>
            <a:r>
              <a:rPr lang="en-US" altLang="x-none" sz="1800" b="1" dirty="0">
                <a:latin typeface="Open Sans" charset="0"/>
                <a:ea typeface="Open Sans" charset="0"/>
                <a:cs typeface="Open Sans" charset="0"/>
              </a:rPr>
              <a:t>GitHub Drawbacks</a:t>
            </a:r>
          </a:p>
          <a:p>
            <a:pPr>
              <a:spcBef>
                <a:spcPts val="1100"/>
              </a:spcBef>
            </a:pPr>
            <a:r>
              <a:rPr lang="en-US" dirty="0"/>
              <a:t>GitHub has been made by and for people who one could call nerds; so if you aren‘t a bit of a nerd, you might get lost, because of GitHub‘s structure and terminology</a:t>
            </a:r>
          </a:p>
          <a:p>
            <a:pPr>
              <a:spcBef>
                <a:spcPts val="1100"/>
              </a:spcBef>
            </a:pPr>
            <a:r>
              <a:rPr lang="en-US" dirty="0"/>
              <a:t>GitHub is not immediately compatible with spoken language</a:t>
            </a:r>
          </a:p>
          <a:p>
            <a:pPr marL="314325" lvl="1" indent="-307975"/>
            <a:r>
              <a:rPr lang="en-US" dirty="0"/>
              <a:t>retrieving the current project status is called a </a:t>
            </a:r>
            <a:r>
              <a:rPr lang="en-US" b="1" dirty="0"/>
              <a:t>pull</a:t>
            </a:r>
          </a:p>
          <a:p>
            <a:pPr marL="314325" lvl="1" indent="-307975"/>
            <a:r>
              <a:rPr lang="en-US" dirty="0"/>
              <a:t>changing something is called a </a:t>
            </a:r>
            <a:r>
              <a:rPr lang="en-US" b="1" dirty="0"/>
              <a:t>commit</a:t>
            </a:r>
          </a:p>
          <a:p>
            <a:pPr marL="314325" lvl="1" indent="-307975"/>
            <a:r>
              <a:rPr lang="en-US" dirty="0"/>
              <a:t>uploading your changes is called a </a:t>
            </a:r>
            <a:r>
              <a:rPr lang="en-US" b="1" dirty="0"/>
              <a:t>push</a:t>
            </a:r>
          </a:p>
          <a:p>
            <a:pPr marL="314325" lvl="1" indent="-307975"/>
            <a:r>
              <a:rPr lang="en-US" dirty="0"/>
              <a:t>having created a branch and wanting to have it merged with the main project is called a </a:t>
            </a:r>
            <a:r>
              <a:rPr lang="en-US" b="1" dirty="0"/>
              <a:t>pull-request</a:t>
            </a:r>
          </a:p>
          <a:p>
            <a:pPr marL="6350" lvl="1" indent="0">
              <a:spcBef>
                <a:spcPts val="1100"/>
              </a:spcBef>
              <a:buNone/>
            </a:pPr>
            <a:r>
              <a:rPr lang="en-US" dirty="0"/>
              <a:t>synchronizing with GitHub will work differently depending on your OS and code editor; best results IMHO are achieved using GitHub Desktop and/or </a:t>
            </a:r>
            <a:r>
              <a:rPr lang="en-US" dirty="0" err="1"/>
              <a:t>VisualStudio</a:t>
            </a:r>
            <a:r>
              <a:rPr lang="en-US" dirty="0"/>
              <a:t> Code (see below)</a:t>
            </a:r>
          </a:p>
          <a:p>
            <a:pPr marL="314325" lvl="1" indent="-307975"/>
            <a:endParaRPr lang="en-US" b="1" dirty="0"/>
          </a:p>
          <a:p>
            <a:pPr>
              <a:spcBef>
                <a:spcPts val="1100"/>
              </a:spcBef>
            </a:pPr>
            <a:endParaRPr lang="en-US" dirty="0"/>
          </a:p>
          <a:p>
            <a:pPr>
              <a:spcBef>
                <a:spcPts val="1100"/>
              </a:spcBef>
            </a:pPr>
            <a:endParaRPr lang="en-US" dirty="0"/>
          </a:p>
        </p:txBody>
      </p:sp>
      <p:pic>
        <p:nvPicPr>
          <p:cNvPr id="6" name="Grafik 5">
            <a:extLst>
              <a:ext uri="{FF2B5EF4-FFF2-40B4-BE49-F238E27FC236}">
                <a16:creationId xmlns:a16="http://schemas.microsoft.com/office/drawing/2014/main" id="{678ECEAF-1CDC-3047-9184-B08681F89158}"/>
              </a:ext>
            </a:extLst>
          </p:cNvPr>
          <p:cNvPicPr>
            <a:picLocks noChangeAspect="1"/>
          </p:cNvPicPr>
          <p:nvPr/>
        </p:nvPicPr>
        <p:blipFill>
          <a:blip r:embed="rId3"/>
          <a:stretch>
            <a:fillRect/>
          </a:stretch>
        </p:blipFill>
        <p:spPr>
          <a:xfrm>
            <a:off x="6907827" y="2386653"/>
            <a:ext cx="4579998" cy="995326"/>
          </a:xfrm>
          <a:prstGeom prst="rect">
            <a:avLst/>
          </a:prstGeom>
        </p:spPr>
      </p:pic>
      <p:pic>
        <p:nvPicPr>
          <p:cNvPr id="7" name="Grafik 6">
            <a:extLst>
              <a:ext uri="{FF2B5EF4-FFF2-40B4-BE49-F238E27FC236}">
                <a16:creationId xmlns:a16="http://schemas.microsoft.com/office/drawing/2014/main" id="{72038C36-AB00-8C48-9C7D-9883E968AC87}"/>
              </a:ext>
            </a:extLst>
          </p:cNvPr>
          <p:cNvPicPr>
            <a:picLocks noChangeAspect="1"/>
          </p:cNvPicPr>
          <p:nvPr/>
        </p:nvPicPr>
        <p:blipFill>
          <a:blip r:embed="rId4"/>
          <a:stretch>
            <a:fillRect/>
          </a:stretch>
        </p:blipFill>
        <p:spPr>
          <a:xfrm>
            <a:off x="6950379" y="3476021"/>
            <a:ext cx="4505022" cy="1822310"/>
          </a:xfrm>
          <a:prstGeom prst="rect">
            <a:avLst/>
          </a:prstGeom>
        </p:spPr>
      </p:pic>
      <p:pic>
        <p:nvPicPr>
          <p:cNvPr id="8" name="Grafik 7">
            <a:extLst>
              <a:ext uri="{FF2B5EF4-FFF2-40B4-BE49-F238E27FC236}">
                <a16:creationId xmlns:a16="http://schemas.microsoft.com/office/drawing/2014/main" id="{EBD3C8D3-6495-E24C-9E1E-8B876272F418}"/>
              </a:ext>
            </a:extLst>
          </p:cNvPr>
          <p:cNvPicPr>
            <a:picLocks noChangeAspect="1"/>
          </p:cNvPicPr>
          <p:nvPr/>
        </p:nvPicPr>
        <p:blipFill>
          <a:blip r:embed="rId5"/>
          <a:stretch>
            <a:fillRect/>
          </a:stretch>
        </p:blipFill>
        <p:spPr>
          <a:xfrm>
            <a:off x="6937827" y="1427925"/>
            <a:ext cx="4536000" cy="988040"/>
          </a:xfrm>
          <a:prstGeom prst="rect">
            <a:avLst/>
          </a:prstGeom>
        </p:spPr>
      </p:pic>
    </p:spTree>
    <p:custDataLst>
      <p:tags r:id="rId1"/>
    </p:custDataLst>
    <p:extLst>
      <p:ext uri="{BB962C8B-B14F-4D97-AF65-F5344CB8AC3E}">
        <p14:creationId xmlns:p14="http://schemas.microsoft.com/office/powerpoint/2010/main" val="244545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500"/>
                                        <p:tgtEl>
                                          <p:spTgt spid="9">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fade">
                                      <p:cBhvr>
                                        <p:cTn id="10" dur="500"/>
                                        <p:tgtEl>
                                          <p:spTgt spid="9">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fade">
                                      <p:cBhvr>
                                        <p:cTn id="13" dur="500"/>
                                        <p:tgtEl>
                                          <p:spTgt spid="9">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5" end="5"/>
                                            </p:txEl>
                                          </p:spTgt>
                                        </p:tgtEl>
                                        <p:attrNameLst>
                                          <p:attrName>style.visibility</p:attrName>
                                        </p:attrNameLst>
                                      </p:cBhvr>
                                      <p:to>
                                        <p:strVal val="visible"/>
                                      </p:to>
                                    </p:set>
                                    <p:animEffect transition="in" filter="fade">
                                      <p:cBhvr>
                                        <p:cTn id="16" dur="500"/>
                                        <p:tgtEl>
                                          <p:spTgt spid="9">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Effect transition="in" filter="fade">
                                      <p:cBhvr>
                                        <p:cTn id="19" dur="500"/>
                                        <p:tgtEl>
                                          <p:spTgt spid="9">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xEl>
                                              <p:pRg st="7" end="7"/>
                                            </p:txEl>
                                          </p:spTgt>
                                        </p:tgtEl>
                                        <p:attrNameLst>
                                          <p:attrName>style.visibility</p:attrName>
                                        </p:attrNameLst>
                                      </p:cBhvr>
                                      <p:to>
                                        <p:strVal val="visible"/>
                                      </p:to>
                                    </p:set>
                                    <p:animEffect transition="in" filter="fade">
                                      <p:cBhvr>
                                        <p:cTn id="24"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53C87D5D-5A5C-D548-B5F1-F4E6DC5608C7}"/>
              </a:ext>
            </a:extLst>
          </p:cNvPr>
          <p:cNvPicPr>
            <a:picLocks noChangeAspect="1"/>
          </p:cNvPicPr>
          <p:nvPr/>
        </p:nvPicPr>
        <p:blipFill>
          <a:blip r:embed="rId3"/>
          <a:stretch>
            <a:fillRect/>
          </a:stretch>
        </p:blipFill>
        <p:spPr>
          <a:xfrm>
            <a:off x="7872967" y="1481138"/>
            <a:ext cx="3582431" cy="1728990"/>
          </a:xfrm>
          <a:prstGeom prst="rect">
            <a:avLst/>
          </a:prstGeom>
        </p:spPr>
      </p:pic>
      <p:sp>
        <p:nvSpPr>
          <p:cNvPr id="3" name="Titel 2"/>
          <p:cNvSpPr>
            <a:spLocks noGrp="1"/>
          </p:cNvSpPr>
          <p:nvPr>
            <p:ph type="title"/>
          </p:nvPr>
        </p:nvSpPr>
        <p:spPr>
          <a:xfrm>
            <a:off x="874712" y="346075"/>
            <a:ext cx="10580687" cy="684213"/>
          </a:xfrm>
        </p:spPr>
        <p:txBody>
          <a:bodyPr/>
          <a:lstStyle/>
          <a:p>
            <a:r>
              <a:rPr lang="en-US" dirty="0"/>
              <a:t>GitHub</a:t>
            </a:r>
            <a:br>
              <a:rPr lang="en-US" dirty="0"/>
            </a:br>
            <a:r>
              <a:rPr lang="en-US" b="0" dirty="0"/>
              <a:t>Benefits</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6281738" cy="4344987"/>
          </a:xfrm>
        </p:spPr>
        <p:txBody>
          <a:bodyPr/>
          <a:lstStyle/>
          <a:p>
            <a:pPr>
              <a:spcBef>
                <a:spcPts val="600"/>
              </a:spcBef>
            </a:pPr>
            <a:r>
              <a:rPr lang="en-US" altLang="x-none" sz="1800" b="1" dirty="0">
                <a:latin typeface="Open Sans" charset="0"/>
                <a:ea typeface="Open Sans" charset="0"/>
                <a:cs typeface="Open Sans" charset="0"/>
              </a:rPr>
              <a:t>GitHub Benefits</a:t>
            </a:r>
          </a:p>
          <a:p>
            <a:pPr>
              <a:spcBef>
                <a:spcPts val="1100"/>
              </a:spcBef>
            </a:pPr>
            <a:r>
              <a:rPr lang="en-US" dirty="0"/>
              <a:t>collaboration is as easy as possible</a:t>
            </a:r>
          </a:p>
          <a:p>
            <a:pPr>
              <a:spcBef>
                <a:spcPts val="1100"/>
              </a:spcBef>
            </a:pPr>
            <a:r>
              <a:rPr lang="en-US" dirty="0"/>
              <a:t>project data and code are in one place and are always up to date</a:t>
            </a:r>
          </a:p>
          <a:p>
            <a:pPr>
              <a:spcBef>
                <a:spcPts val="1100"/>
              </a:spcBef>
            </a:pPr>
            <a:r>
              <a:rPr lang="en-US" dirty="0"/>
              <a:t>is also great as backup even when working alone on a project</a:t>
            </a:r>
          </a:p>
          <a:p>
            <a:pPr>
              <a:spcBef>
                <a:spcPts val="1100"/>
              </a:spcBef>
            </a:pPr>
            <a:r>
              <a:rPr lang="en-US" dirty="0"/>
              <a:t>project progress is marked with a time stamp, so all steps are transparent all the time, no one can engage in some </a:t>
            </a:r>
            <a:r>
              <a:rPr lang="en-US" dirty="0" err="1"/>
              <a:t>HARKing</a:t>
            </a:r>
            <a:r>
              <a:rPr lang="en-US" dirty="0"/>
              <a:t> as it will be evident if some hypothesis is added to the manuscript file at a later time point than the analysis code has been updated (can easily be faked of course, but good will presumed ...)</a:t>
            </a:r>
          </a:p>
          <a:p>
            <a:pPr>
              <a:spcBef>
                <a:spcPts val="1100"/>
              </a:spcBef>
            </a:pPr>
            <a:r>
              <a:rPr lang="en-US" dirty="0"/>
              <a:t>does not only support collaboration, but also sharing of data and code, because a whole project can be downloaded (aka „cloned“) in an instant instead of downloading OSF files one at a time</a:t>
            </a:r>
          </a:p>
          <a:p>
            <a:pPr>
              <a:spcBef>
                <a:spcPts val="1100"/>
              </a:spcBef>
            </a:pPr>
            <a:r>
              <a:rPr lang="en-US" dirty="0"/>
              <a:t>also has tools for project administration (Issues, Projects) and a built-in Wiki function</a:t>
            </a:r>
          </a:p>
        </p:txBody>
      </p:sp>
      <p:pic>
        <p:nvPicPr>
          <p:cNvPr id="7" name="Grafik 6">
            <a:extLst>
              <a:ext uri="{FF2B5EF4-FFF2-40B4-BE49-F238E27FC236}">
                <a16:creationId xmlns:a16="http://schemas.microsoft.com/office/drawing/2014/main" id="{B3FB64AC-F6D3-C84E-B74A-6C13F20AA140}"/>
              </a:ext>
            </a:extLst>
          </p:cNvPr>
          <p:cNvPicPr>
            <a:picLocks noChangeAspect="1"/>
          </p:cNvPicPr>
          <p:nvPr/>
        </p:nvPicPr>
        <p:blipFill rotWithShape="1">
          <a:blip r:embed="rId4"/>
          <a:srcRect r="33032" b="26559"/>
          <a:stretch/>
        </p:blipFill>
        <p:spPr>
          <a:xfrm>
            <a:off x="7874000" y="3476058"/>
            <a:ext cx="3581399" cy="2227216"/>
          </a:xfrm>
          <a:prstGeom prst="rect">
            <a:avLst/>
          </a:prstGeom>
        </p:spPr>
      </p:pic>
      <p:pic>
        <p:nvPicPr>
          <p:cNvPr id="8" name="Grafik 7">
            <a:extLst>
              <a:ext uri="{FF2B5EF4-FFF2-40B4-BE49-F238E27FC236}">
                <a16:creationId xmlns:a16="http://schemas.microsoft.com/office/drawing/2014/main" id="{27D72EF3-B104-334B-9D11-B068555B18FE}"/>
              </a:ext>
            </a:extLst>
          </p:cNvPr>
          <p:cNvPicPr>
            <a:picLocks noChangeAspect="1"/>
          </p:cNvPicPr>
          <p:nvPr/>
        </p:nvPicPr>
        <p:blipFill rotWithShape="1">
          <a:blip r:embed="rId5"/>
          <a:srcRect t="12254" b="1"/>
          <a:stretch/>
        </p:blipFill>
        <p:spPr>
          <a:xfrm>
            <a:off x="7874000" y="1481138"/>
            <a:ext cx="3581478" cy="1813947"/>
          </a:xfrm>
          <a:prstGeom prst="rect">
            <a:avLst/>
          </a:prstGeom>
        </p:spPr>
      </p:pic>
    </p:spTree>
    <p:custDataLst>
      <p:tags r:id="rId1"/>
    </p:custDataLst>
    <p:extLst>
      <p:ext uri="{BB962C8B-B14F-4D97-AF65-F5344CB8AC3E}">
        <p14:creationId xmlns:p14="http://schemas.microsoft.com/office/powerpoint/2010/main" val="2859415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fade">
                                      <p:cBhvr>
                                        <p:cTn id="12" dur="500"/>
                                        <p:tgtEl>
                                          <p:spTgt spid="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animEffect transition="in" filter="fade">
                                      <p:cBhvr>
                                        <p:cTn id="17" dur="500"/>
                                        <p:tgtEl>
                                          <p:spTgt spid="9">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fade">
                                      <p:cBhvr>
                                        <p:cTn id="25" dur="500"/>
                                        <p:tgtEl>
                                          <p:spTgt spid="9">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dirty="0"/>
              <a:t>Recommended tools</a:t>
            </a:r>
            <a:br>
              <a:rPr lang="en-US" dirty="0"/>
            </a:br>
            <a:r>
              <a:rPr lang="en-US" b="0" dirty="0"/>
              <a:t>R packages</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6281738" cy="4344987"/>
          </a:xfrm>
        </p:spPr>
        <p:txBody>
          <a:bodyPr/>
          <a:lstStyle/>
          <a:p>
            <a:pPr>
              <a:spcBef>
                <a:spcPts val="0"/>
              </a:spcBef>
              <a:spcAft>
                <a:spcPts val="600"/>
              </a:spcAft>
            </a:pPr>
            <a:r>
              <a:rPr lang="en-US" altLang="x-none" sz="1800" b="1" dirty="0" err="1">
                <a:latin typeface="Open Sans" charset="0"/>
                <a:ea typeface="Open Sans" charset="0"/>
                <a:cs typeface="Open Sans" charset="0"/>
              </a:rPr>
              <a:t>papaja</a:t>
            </a:r>
            <a:endParaRPr lang="en-US" altLang="x-none" sz="1800" b="1" dirty="0">
              <a:latin typeface="Open Sans" charset="0"/>
              <a:ea typeface="Open Sans" charset="0"/>
              <a:cs typeface="Open Sans" charset="0"/>
            </a:endParaRPr>
          </a:p>
          <a:p>
            <a:pPr>
              <a:spcBef>
                <a:spcPts val="0"/>
              </a:spcBef>
              <a:spcAft>
                <a:spcPts val="600"/>
              </a:spcAft>
            </a:pPr>
            <a:r>
              <a:rPr lang="en-US" sz="1800" dirty="0"/>
              <a:t>lets you format your manuscript in APA6 format and includes a variety of helper functions, e.g., for reporting statistics in a proper (and properly formatted) way</a:t>
            </a:r>
          </a:p>
          <a:p>
            <a:pPr>
              <a:spcAft>
                <a:spcPts val="600"/>
              </a:spcAft>
            </a:pPr>
            <a:r>
              <a:rPr lang="en-US" altLang="x-none" sz="1800" b="1" dirty="0" err="1">
                <a:latin typeface="Open Sans" charset="0"/>
                <a:ea typeface="Open Sans" charset="0"/>
                <a:cs typeface="Open Sans" charset="0"/>
              </a:rPr>
              <a:t>renv</a:t>
            </a:r>
            <a:endParaRPr lang="en-US" altLang="x-none" sz="1800" b="1" dirty="0">
              <a:latin typeface="Open Sans" charset="0"/>
              <a:ea typeface="Open Sans" charset="0"/>
              <a:cs typeface="Open Sans" charset="0"/>
            </a:endParaRPr>
          </a:p>
          <a:p>
            <a:pPr>
              <a:spcBef>
                <a:spcPts val="0"/>
              </a:spcBef>
              <a:spcAft>
                <a:spcPts val="600"/>
              </a:spcAft>
            </a:pPr>
            <a:r>
              <a:rPr lang="en-US" sz="1800" dirty="0"/>
              <a:t>stands for </a:t>
            </a:r>
            <a:r>
              <a:rPr lang="en-US" sz="1800" b="1" dirty="0"/>
              <a:t>r</a:t>
            </a:r>
            <a:r>
              <a:rPr lang="en-US" sz="1800" dirty="0"/>
              <a:t>eproducible </a:t>
            </a:r>
            <a:r>
              <a:rPr lang="en-US" sz="1800" b="1" dirty="0"/>
              <a:t>env</a:t>
            </a:r>
            <a:r>
              <a:rPr lang="en-US" sz="1800" dirty="0"/>
              <a:t>ironment and stores your R analysis environment for a given project, so that people who want to reproduce your results not only have your code but the very R package versions you used </a:t>
            </a:r>
          </a:p>
          <a:p>
            <a:pPr>
              <a:spcAft>
                <a:spcPts val="600"/>
              </a:spcAft>
            </a:pPr>
            <a:r>
              <a:rPr lang="en-US" altLang="x-none" sz="1800" b="1" dirty="0">
                <a:latin typeface="Open Sans" charset="0"/>
                <a:ea typeface="Open Sans" charset="0"/>
                <a:cs typeface="Open Sans" charset="0"/>
              </a:rPr>
              <a:t>here</a:t>
            </a:r>
          </a:p>
          <a:p>
            <a:pPr>
              <a:spcBef>
                <a:spcPts val="0"/>
              </a:spcBef>
              <a:spcAft>
                <a:spcPts val="600"/>
              </a:spcAft>
            </a:pPr>
            <a:r>
              <a:rPr lang="en-US" sz="1800" dirty="0"/>
              <a:t>assists with regard to file paths; with </a:t>
            </a:r>
            <a:r>
              <a:rPr lang="en-US" sz="1800" i="1" dirty="0"/>
              <a:t>here</a:t>
            </a:r>
            <a:r>
              <a:rPr lang="en-US" sz="1800" dirty="0"/>
              <a:t>, there is no need to edit path names of downloaded or cloned projects</a:t>
            </a:r>
          </a:p>
          <a:p>
            <a:pPr>
              <a:spcBef>
                <a:spcPts val="1100"/>
              </a:spcBef>
            </a:pPr>
            <a:endParaRPr lang="en-US" dirty="0"/>
          </a:p>
        </p:txBody>
      </p:sp>
      <p:pic>
        <p:nvPicPr>
          <p:cNvPr id="2050" name="Picture 2" descr="Introduction to renv • renv">
            <a:extLst>
              <a:ext uri="{FF2B5EF4-FFF2-40B4-BE49-F238E27FC236}">
                <a16:creationId xmlns:a16="http://schemas.microsoft.com/office/drawing/2014/main" id="{86A9D983-6476-DF4B-B67E-9490F9D21F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073" y="2882226"/>
            <a:ext cx="1547103" cy="15471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itHub - r-lib/here: A simpler way to find your files">
            <a:extLst>
              <a:ext uri="{FF2B5EF4-FFF2-40B4-BE49-F238E27FC236}">
                <a16:creationId xmlns:a16="http://schemas.microsoft.com/office/drawing/2014/main" id="{F34A66E9-AC9F-004A-8BCA-9D98E82A4B7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37" b="72482"/>
          <a:stretch/>
        </p:blipFill>
        <p:spPr bwMode="auto">
          <a:xfrm>
            <a:off x="7412028" y="4597978"/>
            <a:ext cx="4121193" cy="87548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itHub - crsh/papaja: papaja (Preparing APA Journal Articles) is an R  package that provides document formats to produce complete APA manuscripts  from RMarkdown-files (PDF and Word documents) and helper functions that  facilitate">
            <a:extLst>
              <a:ext uri="{FF2B5EF4-FFF2-40B4-BE49-F238E27FC236}">
                <a16:creationId xmlns:a16="http://schemas.microsoft.com/office/drawing/2014/main" id="{7930CE06-6400-7C47-AC97-C67059B11E4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58871" y="1297867"/>
            <a:ext cx="2827506" cy="1413753"/>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a:extLst>
              <a:ext uri="{FF2B5EF4-FFF2-40B4-BE49-F238E27FC236}">
                <a16:creationId xmlns:a16="http://schemas.microsoft.com/office/drawing/2014/main" id="{B94EB4CB-366A-94D8-118E-179168565C84}"/>
              </a:ext>
            </a:extLst>
          </p:cNvPr>
          <p:cNvSpPr/>
          <p:nvPr/>
        </p:nvSpPr>
        <p:spPr>
          <a:xfrm>
            <a:off x="0" y="6131169"/>
            <a:ext cx="12192000" cy="7268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lumMod val="50000"/>
                  </a:schemeClr>
                </a:solidFill>
              </a:rPr>
              <a:t>  </a:t>
            </a:r>
            <a:r>
              <a:rPr lang="en-US" sz="1600" dirty="0">
                <a:solidFill>
                  <a:schemeClr val="bg1">
                    <a:lumMod val="50000"/>
                  </a:schemeClr>
                </a:solidFill>
                <a:hlinkClick r:id="rId6"/>
              </a:rPr>
              <a:t>https://github.com/crsh/papaja</a:t>
            </a:r>
            <a:r>
              <a:rPr lang="en-US" sz="1600" dirty="0">
                <a:solidFill>
                  <a:schemeClr val="bg1">
                    <a:lumMod val="50000"/>
                  </a:schemeClr>
                </a:solidFill>
              </a:rPr>
              <a:t> | </a:t>
            </a:r>
            <a:r>
              <a:rPr lang="en-US" sz="1600" dirty="0">
                <a:solidFill>
                  <a:schemeClr val="bg1">
                    <a:lumMod val="50000"/>
                  </a:schemeClr>
                </a:solidFill>
                <a:hlinkClick r:id="rId7"/>
              </a:rPr>
              <a:t>https://rstudio.github.io/renv/articles/renv.html</a:t>
            </a:r>
            <a:r>
              <a:rPr lang="en-US" sz="1600" dirty="0">
                <a:solidFill>
                  <a:schemeClr val="bg1">
                    <a:lumMod val="50000"/>
                  </a:schemeClr>
                </a:solidFill>
              </a:rPr>
              <a:t> | </a:t>
            </a:r>
            <a:r>
              <a:rPr lang="en-US" sz="1600" dirty="0">
                <a:solidFill>
                  <a:schemeClr val="bg1">
                    <a:lumMod val="50000"/>
                  </a:schemeClr>
                </a:solidFill>
                <a:hlinkClick r:id="rId8"/>
              </a:rPr>
              <a:t>https://here.r-lib.org</a:t>
            </a:r>
            <a:r>
              <a:rPr lang="en-US" sz="1600" dirty="0">
                <a:solidFill>
                  <a:schemeClr val="bg1">
                    <a:lumMod val="50000"/>
                  </a:schemeClr>
                </a:solidFill>
              </a:rPr>
              <a:t> </a:t>
            </a:r>
          </a:p>
        </p:txBody>
      </p:sp>
      <p:sp>
        <p:nvSpPr>
          <p:cNvPr id="2" name="Textfeld 1">
            <a:extLst>
              <a:ext uri="{FF2B5EF4-FFF2-40B4-BE49-F238E27FC236}">
                <a16:creationId xmlns:a16="http://schemas.microsoft.com/office/drawing/2014/main" id="{DF93AE23-5516-D078-D502-ECFF0CB02C04}"/>
              </a:ext>
            </a:extLst>
          </p:cNvPr>
          <p:cNvSpPr txBox="1"/>
          <p:nvPr/>
        </p:nvSpPr>
        <p:spPr>
          <a:xfrm>
            <a:off x="10188225" y="3100801"/>
            <a:ext cx="1377007" cy="1277273"/>
          </a:xfrm>
          <a:prstGeom prst="rect">
            <a:avLst/>
          </a:prstGeom>
          <a:noFill/>
        </p:spPr>
        <p:txBody>
          <a:bodyPr wrap="square" rtlCol="0">
            <a:spAutoFit/>
          </a:bodyPr>
          <a:lstStyle/>
          <a:p>
            <a:r>
              <a:rPr lang="en-US" sz="1100" dirty="0">
                <a:solidFill>
                  <a:schemeClr val="bg1">
                    <a:lumMod val="65000"/>
                  </a:schemeClr>
                </a:solidFill>
              </a:rPr>
              <a:t>* using </a:t>
            </a:r>
            <a:r>
              <a:rPr lang="en-US" sz="1100" dirty="0" err="1">
                <a:solidFill>
                  <a:schemeClr val="bg1">
                    <a:lumMod val="65000"/>
                  </a:schemeClr>
                </a:solidFill>
                <a:latin typeface="SF Mono" panose="020B0009000002000000" pitchFamily="49" charset="0"/>
              </a:rPr>
              <a:t>renv</a:t>
            </a:r>
            <a:r>
              <a:rPr lang="en-US" sz="1100" dirty="0">
                <a:solidFill>
                  <a:schemeClr val="bg1">
                    <a:lumMod val="65000"/>
                  </a:schemeClr>
                </a:solidFill>
                <a:latin typeface="SF Mono" panose="020B0009000002000000" pitchFamily="49" charset="0"/>
              </a:rPr>
              <a:t> </a:t>
            </a:r>
            <a:r>
              <a:rPr lang="en-US" sz="1100" dirty="0">
                <a:solidFill>
                  <a:schemeClr val="bg1">
                    <a:lumMod val="65000"/>
                  </a:schemeClr>
                </a:solidFill>
              </a:rPr>
              <a:t>may sometimes be troublesome, so were are about to go for an alternative tool: </a:t>
            </a:r>
            <a:r>
              <a:rPr lang="en-US" sz="1100" dirty="0" err="1">
                <a:solidFill>
                  <a:schemeClr val="bg1">
                    <a:lumMod val="65000"/>
                  </a:schemeClr>
                </a:solidFill>
                <a:latin typeface="SF Mono" panose="020B0009000002000000" pitchFamily="49" charset="0"/>
              </a:rPr>
              <a:t>conda</a:t>
            </a:r>
            <a:endParaRPr lang="en-US" sz="1100" dirty="0">
              <a:solidFill>
                <a:schemeClr val="bg1">
                  <a:lumMod val="65000"/>
                </a:schemeClr>
              </a:solidFill>
              <a:latin typeface="SF Mono" panose="020B0009000002000000" pitchFamily="49" charset="0"/>
            </a:endParaRPr>
          </a:p>
        </p:txBody>
      </p:sp>
    </p:spTree>
    <p:custDataLst>
      <p:tags r:id="rId1"/>
    </p:custDataLst>
    <p:extLst>
      <p:ext uri="{BB962C8B-B14F-4D97-AF65-F5344CB8AC3E}">
        <p14:creationId xmlns:p14="http://schemas.microsoft.com/office/powerpoint/2010/main" val="421744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54"/>
                                        </p:tgtEl>
                                        <p:attrNameLst>
                                          <p:attrName>style.visibility</p:attrName>
                                        </p:attrNameLst>
                                      </p:cBhvr>
                                      <p:to>
                                        <p:strVal val="visible"/>
                                      </p:to>
                                    </p:set>
                                    <p:animEffect transition="in" filter="fade">
                                      <p:cBhvr>
                                        <p:cTn id="13" dur="500"/>
                                        <p:tgtEl>
                                          <p:spTgt spid="205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500"/>
                                        <p:tgtEl>
                                          <p:spTgt spid="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500"/>
                                        <p:tgtEl>
                                          <p:spTgt spid="9">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050"/>
                                        </p:tgtEl>
                                        <p:attrNameLst>
                                          <p:attrName>style.visibility</p:attrName>
                                        </p:attrNameLst>
                                      </p:cBhvr>
                                      <p:to>
                                        <p:strVal val="visible"/>
                                      </p:to>
                                    </p:set>
                                    <p:animEffect transition="in" filter="fade">
                                      <p:cBhvr>
                                        <p:cTn id="24" dur="500"/>
                                        <p:tgtEl>
                                          <p:spTgt spid="20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xEl>
                                              <p:pRg st="4" end="4"/>
                                            </p:txEl>
                                          </p:spTgt>
                                        </p:tgtEl>
                                        <p:attrNameLst>
                                          <p:attrName>style.visibility</p:attrName>
                                        </p:attrNameLst>
                                      </p:cBhvr>
                                      <p:to>
                                        <p:strVal val="visible"/>
                                      </p:to>
                                    </p:set>
                                    <p:animEffect transition="in" filter="fade">
                                      <p:cBhvr>
                                        <p:cTn id="34" dur="500"/>
                                        <p:tgtEl>
                                          <p:spTgt spid="9">
                                            <p:txEl>
                                              <p:pRg st="4" end="4"/>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Effect transition="in" filter="fade">
                                      <p:cBhvr>
                                        <p:cTn id="37" dur="500"/>
                                        <p:tgtEl>
                                          <p:spTgt spid="9">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052"/>
                                        </p:tgtEl>
                                        <p:attrNameLst>
                                          <p:attrName>style.visibility</p:attrName>
                                        </p:attrNameLst>
                                      </p:cBhvr>
                                      <p:to>
                                        <p:strVal val="visible"/>
                                      </p:to>
                                    </p:set>
                                    <p:animEffect transition="in" filter="fade">
                                      <p:cBhvr>
                                        <p:cTn id="40"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dirty="0"/>
              <a:t>Recommended tools</a:t>
            </a:r>
            <a:br>
              <a:rPr lang="en-US" dirty="0"/>
            </a:br>
            <a:r>
              <a:rPr lang="en-US" b="0" dirty="0"/>
              <a:t>Software</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5325050" cy="4344987"/>
          </a:xfrm>
        </p:spPr>
        <p:txBody>
          <a:bodyPr/>
          <a:lstStyle/>
          <a:p>
            <a:pPr>
              <a:spcBef>
                <a:spcPts val="600"/>
              </a:spcBef>
            </a:pPr>
            <a:r>
              <a:rPr lang="en-US" altLang="x-none" sz="1800" b="1" dirty="0">
                <a:latin typeface="Open Sans" charset="0"/>
                <a:ea typeface="Open Sans" charset="0"/>
                <a:cs typeface="Open Sans" charset="0"/>
              </a:rPr>
              <a:t>GitHub Desktop</a:t>
            </a:r>
          </a:p>
          <a:p>
            <a:pPr>
              <a:spcBef>
                <a:spcPts val="1100"/>
              </a:spcBef>
            </a:pPr>
            <a:r>
              <a:rPr lang="en-US" sz="1800" dirty="0"/>
              <a:t>keeps track of all changes to your GitHub project, be them local or global</a:t>
            </a:r>
          </a:p>
          <a:p>
            <a:pPr>
              <a:spcBef>
                <a:spcPts val="1100"/>
              </a:spcBef>
            </a:pPr>
            <a:r>
              <a:rPr lang="en-US" sz="1800" dirty="0"/>
              <a:t>will prompt you to pull from the main project time line whenever something has changed and will support you to push changes from your timeline  </a:t>
            </a:r>
          </a:p>
          <a:p>
            <a:r>
              <a:rPr lang="en-US" altLang="x-none" sz="1800" b="1" dirty="0" err="1">
                <a:latin typeface="Open Sans" charset="0"/>
                <a:ea typeface="Open Sans" charset="0"/>
                <a:cs typeface="Open Sans" charset="0"/>
              </a:rPr>
              <a:t>VisualStudio</a:t>
            </a:r>
            <a:r>
              <a:rPr lang="en-US" altLang="x-none" sz="1800" b="1" dirty="0">
                <a:latin typeface="Open Sans" charset="0"/>
                <a:ea typeface="Open Sans" charset="0"/>
                <a:cs typeface="Open Sans" charset="0"/>
              </a:rPr>
              <a:t> Code</a:t>
            </a:r>
          </a:p>
          <a:p>
            <a:pPr>
              <a:spcBef>
                <a:spcPts val="1100"/>
              </a:spcBef>
            </a:pPr>
            <a:r>
              <a:rPr lang="en-US" sz="1800" dirty="0"/>
              <a:t>this program is </a:t>
            </a:r>
            <a:r>
              <a:rPr lang="en-US" sz="1800" i="1" dirty="0"/>
              <a:t>the</a:t>
            </a:r>
            <a:r>
              <a:rPr lang="en-US" sz="1800" dirty="0"/>
              <a:t> code editor to go for, even if you do not want to work with GitHub and R or R Markdown, but like/want/need to work on code</a:t>
            </a:r>
          </a:p>
          <a:p>
            <a:pPr>
              <a:spcBef>
                <a:spcPts val="1100"/>
              </a:spcBef>
            </a:pPr>
            <a:r>
              <a:rPr lang="en-US" sz="1800" dirty="0"/>
              <a:t>comes with code highlighting depending on the programming language you use, has a preview, has dark mode (some people seem to like this 😉)</a:t>
            </a:r>
          </a:p>
          <a:p>
            <a:pPr>
              <a:spcBef>
                <a:spcPts val="1100"/>
              </a:spcBef>
            </a:pPr>
            <a:endParaRPr lang="en-US" dirty="0"/>
          </a:p>
        </p:txBody>
      </p:sp>
      <p:pic>
        <p:nvPicPr>
          <p:cNvPr id="1026" name="Picture 2">
            <a:extLst>
              <a:ext uri="{FF2B5EF4-FFF2-40B4-BE49-F238E27FC236}">
                <a16:creationId xmlns:a16="http://schemas.microsoft.com/office/drawing/2014/main" id="{8EC65575-740D-124A-A02A-F55607E240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06859" y="1361872"/>
            <a:ext cx="2159541" cy="21595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F86E9E7-75C6-C34D-8DA0-FCD5DA9D08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85802" y="3700292"/>
            <a:ext cx="2141708" cy="2141708"/>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hteck 5">
            <a:extLst>
              <a:ext uri="{FF2B5EF4-FFF2-40B4-BE49-F238E27FC236}">
                <a16:creationId xmlns:a16="http://schemas.microsoft.com/office/drawing/2014/main" id="{8E093FE4-05E3-1F59-1AE5-B5798556F78C}"/>
              </a:ext>
            </a:extLst>
          </p:cNvPr>
          <p:cNvSpPr/>
          <p:nvPr/>
        </p:nvSpPr>
        <p:spPr>
          <a:xfrm>
            <a:off x="0" y="6131169"/>
            <a:ext cx="12192000" cy="7268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lumMod val="50000"/>
                  </a:schemeClr>
                </a:solidFill>
              </a:rPr>
              <a:t>  </a:t>
            </a:r>
            <a:r>
              <a:rPr lang="en-US" sz="1600" dirty="0">
                <a:solidFill>
                  <a:schemeClr val="bg1">
                    <a:lumMod val="50000"/>
                  </a:schemeClr>
                </a:solidFill>
                <a:hlinkClick r:id="rId5"/>
              </a:rPr>
              <a:t>https://desktop.github.com</a:t>
            </a:r>
            <a:r>
              <a:rPr lang="en-US" sz="1600" dirty="0">
                <a:solidFill>
                  <a:schemeClr val="bg1">
                    <a:lumMod val="50000"/>
                  </a:schemeClr>
                </a:solidFill>
              </a:rPr>
              <a:t> | </a:t>
            </a:r>
            <a:r>
              <a:rPr lang="en-US" sz="1600" dirty="0">
                <a:solidFill>
                  <a:schemeClr val="bg1">
                    <a:lumMod val="50000"/>
                  </a:schemeClr>
                </a:solidFill>
                <a:hlinkClick r:id="rId6"/>
              </a:rPr>
              <a:t>https://code.visualstudio.com</a:t>
            </a:r>
            <a:endParaRPr lang="en-US" sz="1600" dirty="0">
              <a:solidFill>
                <a:schemeClr val="bg1">
                  <a:lumMod val="50000"/>
                </a:schemeClr>
              </a:solidFill>
            </a:endParaRPr>
          </a:p>
        </p:txBody>
      </p:sp>
    </p:spTree>
    <p:custDataLst>
      <p:tags r:id="rId1"/>
    </p:custDataLst>
    <p:extLst>
      <p:ext uri="{BB962C8B-B14F-4D97-AF65-F5344CB8AC3E}">
        <p14:creationId xmlns:p14="http://schemas.microsoft.com/office/powerpoint/2010/main" val="98143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500"/>
                                        <p:tgtEl>
                                          <p:spTgt spid="10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500"/>
                                        <p:tgtEl>
                                          <p:spTgt spid="9">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500"/>
                                        <p:tgtEl>
                                          <p:spTgt spid="9">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500"/>
                                        <p:tgtEl>
                                          <p:spTgt spid="9">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028"/>
                                        </p:tgtEl>
                                        <p:attrNameLst>
                                          <p:attrName>style.visibility</p:attrName>
                                        </p:attrNameLst>
                                      </p:cBhvr>
                                      <p:to>
                                        <p:strVal val="visible"/>
                                      </p:to>
                                    </p:set>
                                    <p:animEffect transition="in" filter="fade">
                                      <p:cBhvr>
                                        <p:cTn id="30"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dirty="0"/>
              <a:t>Summary and outlook</a:t>
            </a:r>
            <a:br>
              <a:rPr lang="en-US" dirty="0"/>
            </a:br>
            <a:r>
              <a:rPr lang="en-US" b="0" dirty="0"/>
              <a:t>Outlook</a:t>
            </a:r>
          </a:p>
        </p:txBody>
      </p:sp>
      <p:sp>
        <p:nvSpPr>
          <p:cNvPr id="9" name="Inhaltsplatzhalter 3">
            <a:extLst>
              <a:ext uri="{FF2B5EF4-FFF2-40B4-BE49-F238E27FC236}">
                <a16:creationId xmlns:a16="http://schemas.microsoft.com/office/drawing/2014/main" id="{6F0A9753-7109-AA49-84EF-C845F4A8A742}"/>
              </a:ext>
            </a:extLst>
          </p:cNvPr>
          <p:cNvSpPr>
            <a:spLocks noGrp="1"/>
          </p:cNvSpPr>
          <p:nvPr>
            <p:ph sz="quarter" idx="10"/>
          </p:nvPr>
        </p:nvSpPr>
        <p:spPr>
          <a:xfrm>
            <a:off x="874712" y="1484313"/>
            <a:ext cx="6281738" cy="4344987"/>
          </a:xfrm>
        </p:spPr>
        <p:txBody>
          <a:bodyPr/>
          <a:lstStyle/>
          <a:p>
            <a:pPr>
              <a:spcBef>
                <a:spcPts val="600"/>
              </a:spcBef>
            </a:pPr>
            <a:r>
              <a:rPr lang="en-US" altLang="x-none" sz="1800" b="1" spc="-30" dirty="0">
                <a:latin typeface="Open Sans" charset="0"/>
                <a:ea typeface="Open Sans" charset="0"/>
                <a:cs typeface="Open Sans" charset="0"/>
              </a:rPr>
              <a:t>Drawbacks</a:t>
            </a:r>
          </a:p>
          <a:p>
            <a:pPr>
              <a:spcBef>
                <a:spcPts val="600"/>
              </a:spcBef>
            </a:pPr>
            <a:r>
              <a:rPr lang="en-US" altLang="x-none" sz="1800" spc="-30" dirty="0">
                <a:latin typeface="Open Sans" charset="0"/>
                <a:ea typeface="Open Sans" charset="0"/>
                <a:cs typeface="Open Sans" charset="0"/>
              </a:rPr>
              <a:t>actually working on R Markdown files with GitHub will most certainly result in a number of issues</a:t>
            </a:r>
          </a:p>
          <a:p>
            <a:pPr>
              <a:spcBef>
                <a:spcPts val="600"/>
              </a:spcBef>
            </a:pPr>
            <a:r>
              <a:rPr lang="en-US" altLang="x-none" sz="1800" spc="-30" dirty="0">
                <a:latin typeface="Open Sans" charset="0"/>
                <a:ea typeface="Open Sans" charset="0"/>
                <a:cs typeface="Open Sans" charset="0"/>
              </a:rPr>
              <a:t>you will </a:t>
            </a:r>
            <a:r>
              <a:rPr lang="en-US" altLang="x-none" sz="1800" i="1" spc="-30" dirty="0">
                <a:latin typeface="Open Sans" charset="0"/>
                <a:ea typeface="Open Sans" charset="0"/>
                <a:cs typeface="Open Sans" charset="0"/>
              </a:rPr>
              <a:t>initially </a:t>
            </a:r>
            <a:r>
              <a:rPr lang="en-US" altLang="x-none" sz="1800" spc="-30" dirty="0">
                <a:latin typeface="Open Sans" charset="0"/>
                <a:ea typeface="Open Sans" charset="0"/>
                <a:cs typeface="Open Sans" charset="0"/>
              </a:rPr>
              <a:t>need to resort to astonishingly incomprehensible help pages (yet, mostly </a:t>
            </a:r>
            <a:r>
              <a:rPr lang="en-US" altLang="x-none" sz="1800" spc="-30" dirty="0" err="1">
                <a:latin typeface="Open Sans" charset="0"/>
                <a:ea typeface="Open Sans" charset="0"/>
                <a:cs typeface="Open Sans" charset="0"/>
              </a:rPr>
              <a:t>bc</a:t>
            </a:r>
            <a:r>
              <a:rPr lang="en-US" altLang="x-none" sz="1800" spc="-30" dirty="0">
                <a:latin typeface="Open Sans" charset="0"/>
                <a:ea typeface="Open Sans" charset="0"/>
                <a:cs typeface="Open Sans" charset="0"/>
              </a:rPr>
              <a:t> of R Markdown)</a:t>
            </a:r>
          </a:p>
          <a:p>
            <a:pPr>
              <a:spcBef>
                <a:spcPts val="600"/>
              </a:spcBef>
            </a:pPr>
            <a:r>
              <a:rPr lang="en-US" altLang="x-none" sz="1800" spc="-30" dirty="0">
                <a:latin typeface="Open Sans" charset="0"/>
                <a:ea typeface="Open Sans" charset="0"/>
                <a:cs typeface="Open Sans" charset="0"/>
              </a:rPr>
              <a:t>yet, you will also </a:t>
            </a:r>
            <a:r>
              <a:rPr lang="en-US" altLang="x-none" sz="1800" i="1" spc="-30" dirty="0">
                <a:latin typeface="Open Sans" charset="0"/>
                <a:ea typeface="Open Sans" charset="0"/>
                <a:cs typeface="Open Sans" charset="0"/>
              </a:rPr>
              <a:t>later on </a:t>
            </a:r>
            <a:r>
              <a:rPr lang="en-US" altLang="x-none" sz="1800" spc="-30" dirty="0">
                <a:latin typeface="Open Sans" charset="0"/>
                <a:ea typeface="Open Sans" charset="0"/>
                <a:cs typeface="Open Sans" charset="0"/>
              </a:rPr>
              <a:t>need to resort to astonishingly incomprehensible help pages, so why not start now?!</a:t>
            </a:r>
          </a:p>
          <a:p>
            <a:pPr>
              <a:spcBef>
                <a:spcPts val="600"/>
              </a:spcBef>
            </a:pPr>
            <a:r>
              <a:rPr lang="en-US" altLang="x-none" sz="1800" b="1" spc="-30" dirty="0">
                <a:latin typeface="Open Sans" charset="0"/>
                <a:ea typeface="Open Sans" charset="0"/>
                <a:cs typeface="Open Sans" charset="0"/>
              </a:rPr>
              <a:t>Benefits</a:t>
            </a:r>
          </a:p>
          <a:p>
            <a:pPr>
              <a:spcBef>
                <a:spcPts val="600"/>
              </a:spcBef>
            </a:pPr>
            <a:r>
              <a:rPr lang="en-US" altLang="x-none" sz="1800" spc="-30" dirty="0">
                <a:latin typeface="Open Sans" charset="0"/>
                <a:ea typeface="Open Sans" charset="0"/>
                <a:cs typeface="Open Sans" charset="0"/>
              </a:rPr>
              <a:t>After the first manuscript, you will master R Markdown to some degree and more so after the second, and after the third, you will be annoyed that your co-authors do not know R Markdown, so you have to compile everything to a stupid Word document for them to review/revise it</a:t>
            </a:r>
          </a:p>
          <a:p>
            <a:pPr>
              <a:spcBef>
                <a:spcPts val="1100"/>
              </a:spcBef>
            </a:pPr>
            <a:endParaRPr lang="en-US" spc="-30" dirty="0"/>
          </a:p>
        </p:txBody>
      </p:sp>
      <p:pic>
        <p:nvPicPr>
          <p:cNvPr id="4098" name="Picture 2" descr="A Look at the Benefits and Drawbacks of Unified Communications - eXemplify  - More Than A Master Agent">
            <a:extLst>
              <a:ext uri="{FF2B5EF4-FFF2-40B4-BE49-F238E27FC236}">
                <a16:creationId xmlns:a16="http://schemas.microsoft.com/office/drawing/2014/main" id="{37E3B532-4B9E-C441-932D-366E2513C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7574" y="1476375"/>
            <a:ext cx="3867826" cy="3794236"/>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8E02E111-EFF9-5B4A-9DB6-57381F600B59}"/>
              </a:ext>
            </a:extLst>
          </p:cNvPr>
          <p:cNvSpPr/>
          <p:nvPr/>
        </p:nvSpPr>
        <p:spPr>
          <a:xfrm>
            <a:off x="7498945" y="5270611"/>
            <a:ext cx="6096000" cy="215444"/>
          </a:xfrm>
          <a:prstGeom prst="rect">
            <a:avLst/>
          </a:prstGeom>
        </p:spPr>
        <p:txBody>
          <a:bodyPr>
            <a:spAutoFit/>
          </a:bodyPr>
          <a:lstStyle/>
          <a:p>
            <a:r>
              <a:rPr lang="de-DE" sz="750" dirty="0">
                <a:solidFill>
                  <a:schemeClr val="bg1">
                    <a:lumMod val="50000"/>
                  </a:schemeClr>
                </a:solidFill>
              </a:rPr>
              <a:t>https://</a:t>
            </a:r>
            <a:r>
              <a:rPr lang="de-DE" sz="750" dirty="0" err="1">
                <a:solidFill>
                  <a:schemeClr val="bg1">
                    <a:lumMod val="50000"/>
                  </a:schemeClr>
                </a:solidFill>
              </a:rPr>
              <a:t>www.exemplifygroup.com</a:t>
            </a:r>
            <a:r>
              <a:rPr lang="de-DE" sz="750" dirty="0">
                <a:solidFill>
                  <a:schemeClr val="bg1">
                    <a:lumMod val="50000"/>
                  </a:schemeClr>
                </a:solidFill>
              </a:rPr>
              <a:t>/</a:t>
            </a:r>
            <a:r>
              <a:rPr lang="de-DE" sz="750" dirty="0" err="1">
                <a:solidFill>
                  <a:schemeClr val="bg1">
                    <a:lumMod val="50000"/>
                  </a:schemeClr>
                </a:solidFill>
              </a:rPr>
              <a:t>look-benefits-drawbacks-unified-communications</a:t>
            </a:r>
            <a:r>
              <a:rPr lang="de-DE" sz="750" dirty="0">
                <a:solidFill>
                  <a:schemeClr val="bg1">
                    <a:lumMod val="50000"/>
                  </a:schemeClr>
                </a:solidFill>
              </a:rPr>
              <a:t>/</a:t>
            </a:r>
          </a:p>
        </p:txBody>
      </p:sp>
    </p:spTree>
    <p:custDataLst>
      <p:tags r:id="rId1"/>
    </p:custDataLst>
    <p:extLst>
      <p:ext uri="{BB962C8B-B14F-4D97-AF65-F5344CB8AC3E}">
        <p14:creationId xmlns:p14="http://schemas.microsoft.com/office/powerpoint/2010/main" val="146749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500"/>
                                        <p:tgtEl>
                                          <p:spTgt spid="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fade">
                                      <p:cBhvr>
                                        <p:cTn id="12" dur="500"/>
                                        <p:tgtEl>
                                          <p:spTgt spid="9">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animEffect transition="in" filter="fade">
                                      <p:cBhvr>
                                        <p:cTn id="15"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874712" y="346075"/>
            <a:ext cx="10580687" cy="684213"/>
          </a:xfrm>
        </p:spPr>
        <p:txBody>
          <a:bodyPr/>
          <a:lstStyle/>
          <a:p>
            <a:r>
              <a:rPr lang="en-US"/>
              <a:t>Further resources</a:t>
            </a:r>
            <a:br>
              <a:rPr lang="en-US"/>
            </a:br>
            <a:endParaRPr lang="en-US" b="0"/>
          </a:p>
        </p:txBody>
      </p:sp>
      <p:sp>
        <p:nvSpPr>
          <p:cNvPr id="16" name="Inhaltsplatzhalter 3">
            <a:extLst>
              <a:ext uri="{FF2B5EF4-FFF2-40B4-BE49-F238E27FC236}">
                <a16:creationId xmlns:a16="http://schemas.microsoft.com/office/drawing/2014/main" id="{29D55411-E11E-8646-AF78-D801CF8DF53F}"/>
              </a:ext>
            </a:extLst>
          </p:cNvPr>
          <p:cNvSpPr>
            <a:spLocks noGrp="1"/>
          </p:cNvSpPr>
          <p:nvPr>
            <p:ph sz="quarter" idx="10"/>
          </p:nvPr>
        </p:nvSpPr>
        <p:spPr>
          <a:xfrm>
            <a:off x="874712" y="1484313"/>
            <a:ext cx="5843858" cy="4344987"/>
          </a:xfrm>
        </p:spPr>
        <p:txBody>
          <a:bodyPr/>
          <a:lstStyle/>
          <a:p>
            <a:pPr>
              <a:spcBef>
                <a:spcPts val="1100"/>
              </a:spcBef>
            </a:pPr>
            <a:r>
              <a:rPr lang="en-US" altLang="x-none" sz="1800" b="1" dirty="0">
                <a:latin typeface="Open Sans" charset="0"/>
                <a:ea typeface="Open Sans" charset="0"/>
                <a:cs typeface="Open Sans" charset="0"/>
              </a:rPr>
              <a:t>GitHub</a:t>
            </a:r>
          </a:p>
          <a:p>
            <a:pPr lvl="1"/>
            <a:r>
              <a:rPr lang="en-US" sz="1800" dirty="0">
                <a:hlinkClick r:id="rId3"/>
              </a:rPr>
              <a:t>GitHub's Git Guides</a:t>
            </a:r>
            <a:endParaRPr lang="en-US" sz="1800" dirty="0"/>
          </a:p>
          <a:p>
            <a:pPr lvl="1"/>
            <a:r>
              <a:rPr lang="en-US" sz="1800" dirty="0">
                <a:hlinkClick r:id="rId4"/>
              </a:rPr>
              <a:t>Happy Git With R</a:t>
            </a:r>
            <a:endParaRPr lang="en-US" sz="1800" dirty="0"/>
          </a:p>
          <a:p>
            <a:r>
              <a:rPr lang="en-US" altLang="x-none" sz="1800" b="1" dirty="0">
                <a:latin typeface="Open Sans" charset="0"/>
                <a:ea typeface="Open Sans" charset="0"/>
                <a:cs typeface="Open Sans" charset="0"/>
              </a:rPr>
              <a:t>R Markdown</a:t>
            </a:r>
          </a:p>
          <a:p>
            <a:pPr lvl="1"/>
            <a:r>
              <a:rPr lang="en-US" sz="1800" dirty="0">
                <a:hlinkClick r:id="rId5"/>
              </a:rPr>
              <a:t>R Markdown Guide</a:t>
            </a:r>
            <a:endParaRPr lang="en-US" sz="1800" dirty="0"/>
          </a:p>
          <a:p>
            <a:pPr lvl="1"/>
            <a:r>
              <a:rPr lang="en-US" sz="1800" dirty="0">
                <a:hlinkClick r:id="rId6"/>
              </a:rPr>
              <a:t>R Markdown Cheat Sheet</a:t>
            </a:r>
            <a:endParaRPr lang="en-US" sz="1800" dirty="0"/>
          </a:p>
          <a:p>
            <a:pPr lvl="1"/>
            <a:r>
              <a:rPr lang="en-US" sz="1800" dirty="0">
                <a:hlinkClick r:id="rId7"/>
              </a:rPr>
              <a:t>R Markdown Course</a:t>
            </a:r>
            <a:r>
              <a:rPr lang="en-US" sz="1800" dirty="0"/>
              <a:t> (developed by Christoph and me, introductory part follows in </a:t>
            </a:r>
            <a:r>
              <a:rPr lang="en-US" sz="1800"/>
              <a:t>next session)</a:t>
            </a:r>
            <a:endParaRPr lang="en-US" sz="1800" dirty="0"/>
          </a:p>
          <a:p>
            <a:pPr>
              <a:spcBef>
                <a:spcPts val="1100"/>
              </a:spcBef>
            </a:pPr>
            <a:r>
              <a:rPr lang="en-US" altLang="x-none" sz="1800" b="1" dirty="0">
                <a:latin typeface="Open Sans" charset="0"/>
                <a:ea typeface="Open Sans" charset="0"/>
                <a:cs typeface="Open Sans" charset="0"/>
              </a:rPr>
              <a:t>Using GitHub and </a:t>
            </a:r>
            <a:r>
              <a:rPr lang="en-US" altLang="x-none" sz="1800" b="1" dirty="0" err="1">
                <a:latin typeface="Open Sans" charset="0"/>
                <a:ea typeface="Open Sans" charset="0"/>
                <a:cs typeface="Open Sans" charset="0"/>
              </a:rPr>
              <a:t>renv</a:t>
            </a:r>
            <a:r>
              <a:rPr lang="en-US" altLang="x-none" sz="1800" b="1" dirty="0">
                <a:latin typeface="Open Sans" charset="0"/>
                <a:ea typeface="Open Sans" charset="0"/>
                <a:cs typeface="Open Sans" charset="0"/>
              </a:rPr>
              <a:t>/here to collaborate on R Markdown projects</a:t>
            </a:r>
          </a:p>
          <a:p>
            <a:pPr lvl="1">
              <a:spcBef>
                <a:spcPts val="1100"/>
              </a:spcBef>
            </a:pPr>
            <a:r>
              <a:rPr lang="en-US" altLang="x-none" sz="1800" dirty="0">
                <a:latin typeface="Open Sans" charset="0"/>
                <a:ea typeface="Open Sans" charset="0"/>
                <a:cs typeface="Open Sans" charset="0"/>
                <a:hlinkClick r:id="rId8"/>
              </a:rPr>
              <a:t>our tutorial on collaboration via GitHub</a:t>
            </a:r>
            <a:r>
              <a:rPr lang="en-US" altLang="x-none" sz="1800" dirty="0">
                <a:latin typeface="Open Sans" charset="0"/>
                <a:ea typeface="Open Sans" charset="0"/>
                <a:cs typeface="Open Sans" charset="0"/>
              </a:rPr>
              <a:t> (note, we are just about re-organizing our </a:t>
            </a:r>
            <a:r>
              <a:rPr lang="en-US" altLang="x-none" sz="1800" dirty="0">
                <a:latin typeface="Open Sans" charset="0"/>
                <a:ea typeface="Open Sans" charset="0"/>
                <a:cs typeface="Open Sans" charset="0"/>
                <a:hlinkClick r:id="rId9"/>
              </a:rPr>
              <a:t>LabManual</a:t>
            </a:r>
            <a:r>
              <a:rPr lang="en-US" altLang="x-none" sz="1800" dirty="0">
                <a:latin typeface="Open Sans" charset="0"/>
                <a:ea typeface="Open Sans" charset="0"/>
                <a:cs typeface="Open Sans" charset="0"/>
              </a:rPr>
              <a:t>, so you may need to click through from the root)</a:t>
            </a:r>
          </a:p>
          <a:p>
            <a:pPr>
              <a:spcBef>
                <a:spcPts val="1100"/>
              </a:spcBef>
            </a:pPr>
            <a:endParaRPr lang="en-US" altLang="x-none" sz="1800" b="1" dirty="0">
              <a:latin typeface="Open Sans" charset="0"/>
              <a:ea typeface="Open Sans" charset="0"/>
              <a:cs typeface="Open Sans" charset="0"/>
            </a:endParaRPr>
          </a:p>
        </p:txBody>
      </p:sp>
      <p:pic>
        <p:nvPicPr>
          <p:cNvPr id="17" name="Picture 4" descr="Hello, R Markdown!">
            <a:extLst>
              <a:ext uri="{FF2B5EF4-FFF2-40B4-BE49-F238E27FC236}">
                <a16:creationId xmlns:a16="http://schemas.microsoft.com/office/drawing/2014/main" id="{CA3477F5-8597-084E-A527-83F0BB5E9EE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030617" y="2859776"/>
            <a:ext cx="900000" cy="10431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github-logo - Sfera Labs">
            <a:extLst>
              <a:ext uri="{FF2B5EF4-FFF2-40B4-BE49-F238E27FC236}">
                <a16:creationId xmlns:a16="http://schemas.microsoft.com/office/drawing/2014/main" id="{5CA8B5D7-6392-3D47-BACD-79CE0ADD9F2D}"/>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0861" t="3489" r="20763" b="3351"/>
          <a:stretch/>
        </p:blipFill>
        <p:spPr bwMode="auto">
          <a:xfrm>
            <a:off x="9006150" y="1481138"/>
            <a:ext cx="948935" cy="1006972"/>
          </a:xfrm>
          <a:prstGeom prst="rect">
            <a:avLst/>
          </a:prstGeom>
          <a:noFill/>
          <a:extLst>
            <a:ext uri="{909E8E84-426E-40DD-AFC4-6F175D3DCCD1}">
              <a14:hiddenFill xmlns:a14="http://schemas.microsoft.com/office/drawing/2010/main">
                <a:solidFill>
                  <a:srgbClr val="FFFFFF"/>
                </a:solidFill>
              </a14:hiddenFill>
            </a:ext>
          </a:extLst>
        </p:spPr>
      </p:pic>
      <p:pic>
        <p:nvPicPr>
          <p:cNvPr id="19" name="Grafik 18">
            <a:extLst>
              <a:ext uri="{FF2B5EF4-FFF2-40B4-BE49-F238E27FC236}">
                <a16:creationId xmlns:a16="http://schemas.microsoft.com/office/drawing/2014/main" id="{D6091F32-0A38-3B43-8252-98D5868715B8}"/>
              </a:ext>
            </a:extLst>
          </p:cNvPr>
          <p:cNvPicPr>
            <a:picLocks noChangeAspect="1"/>
          </p:cNvPicPr>
          <p:nvPr/>
        </p:nvPicPr>
        <p:blipFill>
          <a:blip r:embed="rId12"/>
          <a:stretch>
            <a:fillRect/>
          </a:stretch>
        </p:blipFill>
        <p:spPr>
          <a:xfrm>
            <a:off x="7505835" y="4687554"/>
            <a:ext cx="3949565" cy="988535"/>
          </a:xfrm>
          <a:prstGeom prst="rect">
            <a:avLst/>
          </a:prstGeom>
        </p:spPr>
      </p:pic>
    </p:spTree>
    <p:custDataLst>
      <p:tags r:id="rId1"/>
    </p:custDataLst>
    <p:extLst>
      <p:ext uri="{BB962C8B-B14F-4D97-AF65-F5344CB8AC3E}">
        <p14:creationId xmlns:p14="http://schemas.microsoft.com/office/powerpoint/2010/main" val="344663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500"/>
                                        <p:tgtEl>
                                          <p:spTgt spid="1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500"/>
                                        <p:tgtEl>
                                          <p:spTgt spid="1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xEl>
                                              <p:pRg st="3" end="3"/>
                                            </p:txEl>
                                          </p:spTgt>
                                        </p:tgtEl>
                                        <p:attrNameLst>
                                          <p:attrName>style.visibility</p:attrName>
                                        </p:attrNameLst>
                                      </p:cBhvr>
                                      <p:to>
                                        <p:strVal val="visible"/>
                                      </p:to>
                                    </p:set>
                                    <p:animEffect transition="in" filter="fade">
                                      <p:cBhvr>
                                        <p:cTn id="21" dur="500"/>
                                        <p:tgtEl>
                                          <p:spTgt spid="16">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xEl>
                                              <p:pRg st="4" end="4"/>
                                            </p:txEl>
                                          </p:spTgt>
                                        </p:tgtEl>
                                        <p:attrNameLst>
                                          <p:attrName>style.visibility</p:attrName>
                                        </p:attrNameLst>
                                      </p:cBhvr>
                                      <p:to>
                                        <p:strVal val="visible"/>
                                      </p:to>
                                    </p:set>
                                    <p:animEffect transition="in" filter="fade">
                                      <p:cBhvr>
                                        <p:cTn id="24" dur="500"/>
                                        <p:tgtEl>
                                          <p:spTgt spid="16">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fade">
                                      <p:cBhvr>
                                        <p:cTn id="27" dur="500"/>
                                        <p:tgtEl>
                                          <p:spTgt spid="16">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xEl>
                                              <p:pRg st="6" end="6"/>
                                            </p:txEl>
                                          </p:spTgt>
                                        </p:tgtEl>
                                        <p:attrNameLst>
                                          <p:attrName>style.visibility</p:attrName>
                                        </p:attrNameLst>
                                      </p:cBhvr>
                                      <p:to>
                                        <p:strVal val="visible"/>
                                      </p:to>
                                    </p:set>
                                    <p:animEffect transition="in" filter="fade">
                                      <p:cBhvr>
                                        <p:cTn id="30" dur="500"/>
                                        <p:tgtEl>
                                          <p:spTgt spid="16">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
                                            <p:txEl>
                                              <p:pRg st="7" end="7"/>
                                            </p:txEl>
                                          </p:spTgt>
                                        </p:tgtEl>
                                        <p:attrNameLst>
                                          <p:attrName>style.visibility</p:attrName>
                                        </p:attrNameLst>
                                      </p:cBhvr>
                                      <p:to>
                                        <p:strVal val="visible"/>
                                      </p:to>
                                    </p:set>
                                    <p:animEffect transition="in" filter="fade">
                                      <p:cBhvr>
                                        <p:cTn id="38" dur="500"/>
                                        <p:tgtEl>
                                          <p:spTgt spid="16">
                                            <p:txEl>
                                              <p:pRg st="7" end="7"/>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xEl>
                                              <p:pRg st="8" end="8"/>
                                            </p:txEl>
                                          </p:spTgt>
                                        </p:tgtEl>
                                        <p:attrNameLst>
                                          <p:attrName>style.visibility</p:attrName>
                                        </p:attrNameLst>
                                      </p:cBhvr>
                                      <p:to>
                                        <p:strVal val="visible"/>
                                      </p:to>
                                    </p:set>
                                    <p:animEffect transition="in" filter="fade">
                                      <p:cBhvr>
                                        <p:cTn id="41" dur="500"/>
                                        <p:tgtEl>
                                          <p:spTgt spid="16">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lvl="5"/>
            <a:r>
              <a:rPr lang="de-DE" sz="3600" b="1" dirty="0" err="1">
                <a:solidFill>
                  <a:schemeClr val="bg1"/>
                </a:solidFill>
                <a:latin typeface="+mj-lt"/>
              </a:rPr>
              <a:t>Thank</a:t>
            </a:r>
            <a:r>
              <a:rPr lang="de-DE" sz="3600" b="1" dirty="0">
                <a:solidFill>
                  <a:schemeClr val="bg1"/>
                </a:solidFill>
                <a:latin typeface="+mj-lt"/>
              </a:rPr>
              <a:t> </a:t>
            </a:r>
            <a:r>
              <a:rPr lang="de-DE" sz="3600" b="1" dirty="0" err="1">
                <a:solidFill>
                  <a:schemeClr val="bg1"/>
                </a:solidFill>
                <a:latin typeface="+mj-lt"/>
              </a:rPr>
              <a:t>you</a:t>
            </a:r>
            <a:r>
              <a:rPr lang="de-DE" sz="3600" b="1" dirty="0">
                <a:solidFill>
                  <a:schemeClr val="bg1"/>
                </a:solidFill>
                <a:latin typeface="+mj-lt"/>
              </a:rPr>
              <a:t>!</a:t>
            </a:r>
            <a:endParaRPr lang="de-DE" sz="3600" dirty="0">
              <a:solidFill>
                <a:schemeClr val="bg1"/>
              </a:solidFill>
              <a:latin typeface="+mj-lt"/>
            </a:endParaRPr>
          </a:p>
        </p:txBody>
      </p:sp>
    </p:spTree>
    <p:custDataLst>
      <p:tags r:id="rId1"/>
    </p:custDataLst>
    <p:extLst>
      <p:ext uri="{BB962C8B-B14F-4D97-AF65-F5344CB8AC3E}">
        <p14:creationId xmlns:p14="http://schemas.microsoft.com/office/powerpoint/2010/main" val="70616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sz="2400">
                <a:latin typeface="Open Sans" panose="020B0606030504020204" pitchFamily="34" charset="0"/>
                <a:ea typeface="Open Sans" panose="020B0606030504020204" pitchFamily="34" charset="0"/>
                <a:cs typeface="Open Sans" panose="020B0606030504020204" pitchFamily="34" charset="0"/>
              </a:rPr>
              <a:t>Credentials</a:t>
            </a:r>
          </a:p>
        </p:txBody>
      </p:sp>
      <p:sp>
        <p:nvSpPr>
          <p:cNvPr id="3" name="Inhaltsplatzhalter 2"/>
          <p:cNvSpPr>
            <a:spLocks noGrp="1"/>
          </p:cNvSpPr>
          <p:nvPr>
            <p:ph idx="1"/>
          </p:nvPr>
        </p:nvSpPr>
        <p:spPr>
          <a:xfrm>
            <a:off x="863600" y="1513419"/>
            <a:ext cx="10375900" cy="2334681"/>
          </a:xfrm>
        </p:spPr>
        <p:txBody>
          <a:bodyPr>
            <a:noAutofit/>
          </a:bodyPr>
          <a:lstStyle/>
          <a:p>
            <a:pPr marL="7938" indent="-7938"/>
            <a:r>
              <a:rPr lang="en-US" sz="1800">
                <a:ea typeface="Open Sans" panose="020B0606030504020204" pitchFamily="34" charset="0"/>
                <a:cs typeface="Open Sans" panose="020B0606030504020204" pitchFamily="34" charset="0"/>
              </a:rPr>
              <a:t>The creation of this workshop material was partially funded by the German Research Foundation (Deutsche Forschungsgemeinschaft, DFG; SFB 940/3).</a:t>
            </a:r>
          </a:p>
        </p:txBody>
      </p:sp>
      <p:sp>
        <p:nvSpPr>
          <p:cNvPr id="6" name="Rechteck 5"/>
          <p:cNvSpPr/>
          <p:nvPr/>
        </p:nvSpPr>
        <p:spPr>
          <a:xfrm>
            <a:off x="2428404" y="5348188"/>
            <a:ext cx="8252296" cy="600164"/>
          </a:xfrm>
          <a:prstGeom prst="rect">
            <a:avLst/>
          </a:prstGeom>
        </p:spPr>
        <p:txBody>
          <a:bodyPr wrap="square">
            <a:spAutoFit/>
          </a:bodyPr>
          <a:lstStyle/>
          <a:p>
            <a:r>
              <a:rPr lang="en-US" sz="1100">
                <a:latin typeface="Open Sans" panose="020B0606030504020204" pitchFamily="34" charset="0"/>
                <a:ea typeface="Open Sans" panose="020B0606030504020204" pitchFamily="34" charset="0"/>
                <a:cs typeface="Open Sans" panose="020B0606030504020204" pitchFamily="34" charset="0"/>
              </a:rPr>
              <a:t>These slides were created by Alexander Strobel, Christoph Scheffel and Josephine Zerna. The work is licensed under a </a:t>
            </a:r>
            <a:r>
              <a:rPr lang="en-US" sz="1100">
                <a:latin typeface="Open Sans" panose="020B0606030504020204" pitchFamily="34" charset="0"/>
                <a:ea typeface="Open Sans" panose="020B0606030504020204" pitchFamily="34" charset="0"/>
                <a:cs typeface="Open Sans" panose="020B0606030504020204" pitchFamily="34" charset="0"/>
                <a:hlinkClick r:id="rId2"/>
              </a:rPr>
              <a:t>Creative Commons Attribution 4.0 International License</a:t>
            </a:r>
            <a:r>
              <a:rPr lang="en-US" sz="1100">
                <a:latin typeface="Open Sans" panose="020B0606030504020204" pitchFamily="34" charset="0"/>
                <a:ea typeface="Open Sans" panose="020B0606030504020204" pitchFamily="34" charset="0"/>
                <a:cs typeface="Open Sans" panose="020B0606030504020204" pitchFamily="34" charset="0"/>
              </a:rPr>
              <a:t>. That means, you can reuse these slides in your own workshops, remix them, or copy them, as long as you attribute the original creator.</a:t>
            </a:r>
          </a:p>
        </p:txBody>
      </p:sp>
      <p:pic>
        <p:nvPicPr>
          <p:cNvPr id="7" name="Picture 2" descr="Creative Commons Lizenzvertrag">
            <a:hlinkClick r:id="" action="ppaction://noaction"/>
          </p:cNvPr>
          <p:cNvPicPr>
            <a:picLocks noChangeAspect="1" noChangeArrowheads="1"/>
          </p:cNvPicPr>
          <p:nvPr/>
        </p:nvPicPr>
        <p:blipFill>
          <a:blip r:embed="rId3" cstate="print"/>
          <a:srcRect/>
          <a:stretch>
            <a:fillRect/>
          </a:stretch>
        </p:blipFill>
        <p:spPr bwMode="auto">
          <a:xfrm>
            <a:off x="905892" y="5396242"/>
            <a:ext cx="1430868" cy="504056"/>
          </a:xfrm>
          <a:prstGeom prst="rect">
            <a:avLst/>
          </a:prstGeom>
          <a:noFill/>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3.2|17"/>
</p:tagLst>
</file>

<file path=ppt/tags/tag2.xml><?xml version="1.0" encoding="utf-8"?>
<p:tagLst xmlns:a="http://schemas.openxmlformats.org/drawingml/2006/main" xmlns:r="http://schemas.openxmlformats.org/officeDocument/2006/relationships" xmlns:p="http://schemas.openxmlformats.org/presentationml/2006/main">
  <p:tag name="TIMING" val="|33.2|17"/>
</p:tagLst>
</file>

<file path=ppt/tags/tag3.xml><?xml version="1.0" encoding="utf-8"?>
<p:tagLst xmlns:a="http://schemas.openxmlformats.org/drawingml/2006/main" xmlns:r="http://schemas.openxmlformats.org/officeDocument/2006/relationships" xmlns:p="http://schemas.openxmlformats.org/presentationml/2006/main">
  <p:tag name="TIMING" val="|33.2|17"/>
</p:tagLst>
</file>

<file path=ppt/tags/tag4.xml><?xml version="1.0" encoding="utf-8"?>
<p:tagLst xmlns:a="http://schemas.openxmlformats.org/drawingml/2006/main" xmlns:r="http://schemas.openxmlformats.org/officeDocument/2006/relationships" xmlns:p="http://schemas.openxmlformats.org/presentationml/2006/main">
  <p:tag name="TIMING" val="|33.2|17"/>
</p:tagLst>
</file>

<file path=ppt/tags/tag5.xml><?xml version="1.0" encoding="utf-8"?>
<p:tagLst xmlns:a="http://schemas.openxmlformats.org/drawingml/2006/main" xmlns:r="http://schemas.openxmlformats.org/officeDocument/2006/relationships" xmlns:p="http://schemas.openxmlformats.org/presentationml/2006/main">
  <p:tag name="TIMING" val="|33.2|17"/>
</p:tagLst>
</file>

<file path=ppt/tags/tag6.xml><?xml version="1.0" encoding="utf-8"?>
<p:tagLst xmlns:a="http://schemas.openxmlformats.org/drawingml/2006/main" xmlns:r="http://schemas.openxmlformats.org/officeDocument/2006/relationships" xmlns:p="http://schemas.openxmlformats.org/presentationml/2006/main">
  <p:tag name="TIMING" val="|33.2|17"/>
</p:tagLst>
</file>

<file path=ppt/tags/tag7.xml><?xml version="1.0" encoding="utf-8"?>
<p:tagLst xmlns:a="http://schemas.openxmlformats.org/drawingml/2006/main" xmlns:r="http://schemas.openxmlformats.org/officeDocument/2006/relationships" xmlns:p="http://schemas.openxmlformats.org/presentationml/2006/main">
  <p:tag name="TIMING" val="|33.2|17"/>
</p:tagLst>
</file>

<file path=ppt/tags/tag8.xml><?xml version="1.0" encoding="utf-8"?>
<p:tagLst xmlns:a="http://schemas.openxmlformats.org/drawingml/2006/main" xmlns:r="http://schemas.openxmlformats.org/officeDocument/2006/relationships" xmlns:p="http://schemas.openxmlformats.org/presentationml/2006/main">
  <p:tag name="TIMING" val="|33.2|17"/>
</p:tagLst>
</file>

<file path=ppt/tags/tag9.xml><?xml version="1.0" encoding="utf-8"?>
<p:tagLst xmlns:a="http://schemas.openxmlformats.org/drawingml/2006/main" xmlns:r="http://schemas.openxmlformats.org/officeDocument/2006/relationships" xmlns:p="http://schemas.openxmlformats.org/presentationml/2006/main">
  <p:tag name="TIMING" val="|33.2|17"/>
</p:tagLst>
</file>

<file path=ppt/tags/tag10.xml><?xml version="1.0" encoding="utf-8"?>
<p:tagLst xmlns:a="http://schemas.openxmlformats.org/drawingml/2006/main" xmlns:r="http://schemas.openxmlformats.org/officeDocument/2006/relationships" xmlns:p="http://schemas.openxmlformats.org/presentationml/2006/main">
  <p:tag name="TIMING" val="|33.2|17"/>
</p:tagLst>
</file>

<file path=ppt/tags/tag11.xml><?xml version="1.0" encoding="utf-8"?>
<p:tagLst xmlns:a="http://schemas.openxmlformats.org/drawingml/2006/main" xmlns:r="http://schemas.openxmlformats.org/officeDocument/2006/relationships" xmlns:p="http://schemas.openxmlformats.org/presentationml/2006/main">
  <p:tag name="TIMING" val="|33.2|17"/>
</p:tagLst>
</file>

<file path=ppt/tags/tag12.xml><?xml version="1.0" encoding="utf-8"?>
<p:tagLst xmlns:a="http://schemas.openxmlformats.org/drawingml/2006/main" xmlns:r="http://schemas.openxmlformats.org/officeDocument/2006/relationships" xmlns:p="http://schemas.openxmlformats.org/presentationml/2006/main">
  <p:tag name="TIMING" val="|33.2|17"/>
</p:tagLst>
</file>

<file path=ppt/tags/tag13.xml><?xml version="1.0" encoding="utf-8"?>
<p:tagLst xmlns:a="http://schemas.openxmlformats.org/drawingml/2006/main" xmlns:r="http://schemas.openxmlformats.org/officeDocument/2006/relationships" xmlns:p="http://schemas.openxmlformats.org/presentationml/2006/main">
  <p:tag name="TIMING" val="|33.2|17"/>
</p:tagLst>
</file>

<file path=ppt/theme/theme1.xml><?xml version="1.0" encoding="utf-8"?>
<a:theme xmlns:a="http://schemas.openxmlformats.org/drawingml/2006/main" name="TUD_2018_16zu9">
  <a:themeElements>
    <a:clrScheme name="TUD_Farben">
      <a:dk1>
        <a:srgbClr val="00305E"/>
      </a:dk1>
      <a:lt1>
        <a:srgbClr val="FFFFFF"/>
      </a:lt1>
      <a:dk2>
        <a:srgbClr val="00305E"/>
      </a:dk2>
      <a:lt2>
        <a:srgbClr val="727879"/>
      </a:lt2>
      <a:accent1>
        <a:srgbClr val="009EE0"/>
      </a:accent1>
      <a:accent2>
        <a:srgbClr val="006AB3"/>
      </a:accent2>
      <a:accent3>
        <a:srgbClr val="6AB023"/>
      </a:accent3>
      <a:accent4>
        <a:srgbClr val="007D40"/>
      </a:accent4>
      <a:accent5>
        <a:srgbClr val="93107E"/>
      </a:accent5>
      <a:accent6>
        <a:srgbClr val="54378A"/>
      </a:accent6>
      <a:hlink>
        <a:srgbClr val="009EE0"/>
      </a:hlink>
      <a:folHlink>
        <a:srgbClr val="006AB3"/>
      </a:folHlink>
    </a:clrScheme>
    <a:fontScheme name="TUD_Open San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70C0">
            <a:alpha val="10000"/>
          </a:srgbClr>
        </a:solidFill>
        <a:ln>
          <a:solidFill>
            <a:srgbClr val="0070C0"/>
          </a:solidFill>
        </a:ln>
      </a:spPr>
      <a:bodyPr rtlCol="0" anchor="ctr"/>
      <a:lstStyle>
        <a:defPPr algn="ctr">
          <a:defRPr sz="1600" dirty="0" smtClean="0">
            <a:solidFill>
              <a:srgbClr val="0070C0"/>
            </a:solidFill>
            <a:latin typeface="Open Sans" panose="020B0606030504020204" pitchFamily="34" charset="0"/>
            <a:ea typeface="Open Sans" panose="020B0606030504020204" pitchFamily="34" charset="0"/>
            <a:cs typeface="Open Sans" panose="020B0606030504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70C0"/>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18_Präsentationsvorlage_TUD_16zu9.potx" id="{31D16C43-CE8A-487C-877F-1CE738588514}" vid="{D0A951CF-2A2A-4137-AC09-300C595B1D60}"/>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2018_Praesentationsvorlage_TUD_16zu9</Template>
  <TotalTime>0</TotalTime>
  <Words>1475</Words>
  <Application>Microsoft Office PowerPoint</Application>
  <PresentationFormat>Breitbild</PresentationFormat>
  <Paragraphs>105</Paragraphs>
  <Slides>15</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15</vt:i4>
      </vt:variant>
    </vt:vector>
  </HeadingPairs>
  <TitlesOfParts>
    <vt:vector size="22" baseType="lpstr">
      <vt:lpstr>Arial</vt:lpstr>
      <vt:lpstr>Calibri</vt:lpstr>
      <vt:lpstr>Open Sans</vt:lpstr>
      <vt:lpstr>Roboto Mono</vt:lpstr>
      <vt:lpstr>SF Mono</vt:lpstr>
      <vt:lpstr>Symbol</vt:lpstr>
      <vt:lpstr>TUD_2018_16zu9</vt:lpstr>
      <vt:lpstr>R and RMarkdown  Outro Workflow with GitHub </vt:lpstr>
      <vt:lpstr>R Markdown One problem</vt:lpstr>
      <vt:lpstr>R Markdown One solution</vt:lpstr>
      <vt:lpstr>R Markdown One solution</vt:lpstr>
      <vt:lpstr>GitHub </vt:lpstr>
      <vt:lpstr>GitHub Basics</vt:lpstr>
      <vt:lpstr>GitHub Workflow</vt:lpstr>
      <vt:lpstr>GitHub Drawbacks</vt:lpstr>
      <vt:lpstr>GitHub Benefits</vt:lpstr>
      <vt:lpstr>Recommended tools R packages</vt:lpstr>
      <vt:lpstr>Recommended tools Software</vt:lpstr>
      <vt:lpstr>Summary and outlook Outlook</vt:lpstr>
      <vt:lpstr>Further resources </vt:lpstr>
      <vt:lpstr>Thank you!</vt:lpstr>
      <vt:lpstr>Credentials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Präsentationsvorlagen im CD der TU Dresden</dc:title>
  <dc:creator>Alex Strobel</dc:creator>
  <cp:lastModifiedBy>Christoph Scheffel</cp:lastModifiedBy>
  <cp:revision>411</cp:revision>
  <cp:lastPrinted>2019-06-26T07:12:03Z</cp:lastPrinted>
  <dcterms:created xsi:type="dcterms:W3CDTF">2018-03-14T12:16:33Z</dcterms:created>
  <dcterms:modified xsi:type="dcterms:W3CDTF">2025-11-14T13:46:48Z</dcterms:modified>
</cp:coreProperties>
</file>